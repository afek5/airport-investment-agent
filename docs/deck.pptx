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898b4c39d66b4be6" /><Relationship Type="http://schemas.openxmlformats.org/package/2006/relationships/metadata/core-properties" Target="/docProps/core.xml" Id="Rc5e8284978474cbd" /><Relationship Type="http://schemas.openxmlformats.org/officeDocument/2006/relationships/extended-properties" Target="/docProps/app.xml" Id="R3913ab2f3471407e" /><Relationship Type="http://schemas.openxmlformats.org/officeDocument/2006/relationships/custom-properties" Target="/docProps/custom.xml" Id="R95023e2f08f14812"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e41d78d1a0d44013"/>
  </p:notesMasterIdLst>
  <p:sldIdLst>
    <p:sldId id="256" r:id="R8f54d3d6313d47f0"/>
    <p:sldId id="257" r:id="Rba3d70aa718f4076"/>
    <p:sldId id="258" r:id="R492cd43cd60b4e99"/>
    <p:sldId id="259" r:id="R57217b29c73d4558"/>
    <p:sldId id="260" r:id="R2a8cacade07043fb"/>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8f54d3d6313d47f0" /><Relationship Type="http://schemas.openxmlformats.org/officeDocument/2006/relationships/notesMaster" Target="/ppt/notesMasters/notesMaster1.xml" Id="Re41d78d1a0d44013" /><Relationship Type="http://schemas.openxmlformats.org/officeDocument/2006/relationships/slide" Target="/ppt/slides/slide2.xml" Id="Rba3d70aa718f4076" /><Relationship Type="http://schemas.openxmlformats.org/officeDocument/2006/relationships/slide" Target="/ppt/slides/slide3.xml" Id="R492cd43cd60b4e99" /><Relationship Type="http://schemas.openxmlformats.org/officeDocument/2006/relationships/slide" Target="/ppt/slides/slide4.xml" Id="R57217b29c73d4558" /><Relationship Type="http://schemas.openxmlformats.org/officeDocument/2006/relationships/slide" Target="/ppt/slides/slide5.xml" Id="R2a8cacade07043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53532796ab614ec7"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B1A17"/>
      </a:hlink>
      <a:folHlink>
        <a:srgbClr val="1B1A17"/>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bfb3e892dbb145e8" /><Relationship Type="http://schemas.openxmlformats.org/officeDocument/2006/relationships/slide" Target="/ppt/slides/slide1.xml" Id="Rc6560a51da4c4ee0"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d7f42dee498d4a3a" /><Relationship Type="http://schemas.openxmlformats.org/officeDocument/2006/relationships/slide" Target="/ppt/slides/slide2.xml" Id="R2eacd5b0f4484f04"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a991270ff3444e62" /><Relationship Type="http://schemas.openxmlformats.org/officeDocument/2006/relationships/slide" Target="/ppt/slides/slide3.xml" Id="R67f04cb593d84de4"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d2f3d916329a43e2" /><Relationship Type="http://schemas.openxmlformats.org/officeDocument/2006/relationships/slide" Target="/ppt/slides/slide4.xml" Id="Rad68852b953d4aee"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83cf421db8ac4594" /><Relationship Type="http://schemas.openxmlformats.org/officeDocument/2006/relationships/slide" Target="/ppt/slides/slide5.xml" Id="R5c24407769cb43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 The agent is live on Render at the URL on the slide; the access code is sent on request.</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An optional voice call uses gpt-live-1 only to talk: it hands every question to the same agent, so voice and text cannot disagree on a number.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On the right is the rank_airports Evidence card from the live app answering exam question G1 (New England): BOS has Pillars 50.2, 86.1 and 95.3 and scores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Both screenshots are the live demo on Render at 1440 by 900 in light theme, each question asked once from its starter chip after signing in through the access screen. Left, exam question G3: 2.7% of Anchorage's scheduled passenger departures are Long-haul Flights, with the passenger-weighted 6.2% and cargo-inclusive 29.5% variants and the 3,000-mile definition stated; the Mission panel shows the route_mix call and its donuts and table, Data Confidence High. Right, exam question G1: New England ranked by Investment Opportunity Score, BOS 73.1, BGR 72.4 and BTV 71.9 leading 16 ranked airports; the Mission panel shows the rank_airports call, the Pillar bars and the score table, Data Confidence Medium because HVN and PSM are Provisional.</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and schedule Snapshot refreshes. Voice is a shell over the same agent: one brain, at the cost of a short pause while the numbers are pulled.</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5a8a95ea7742c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5e09799c11416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21b6dcd3c54fc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32d59adfd946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65534c11dbb4cae"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375787897fee427c"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a3e53089f8614575" /><Relationship Type="http://schemas.openxmlformats.org/officeDocument/2006/relationships/notesSlide" Target="/ppt/notesSlides/notesSlide1.xml" Id="Rc3ac97c72a9341d6" /><Relationship Type="http://schemas.openxmlformats.org/officeDocument/2006/relationships/hyperlink" Target="https://airport-investment-agent-n37j.onrender.com" TargetMode="External" Id="R8d875f32c5b44b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42dc8d597e14638" /><Relationship Type="http://schemas.openxmlformats.org/officeDocument/2006/relationships/notesSlide" Target="/ppt/notesSlides/notesSlide2.xml" Id="R7fc818e622974c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96c3286e2d4ae9" /><Relationship Type="http://schemas.openxmlformats.org/officeDocument/2006/relationships/notesSlide" Target="/ppt/notesSlides/notesSlide3.xml" Id="R56c81ba2fcba44af" /><Relationship Type="http://schemas.openxmlformats.org/officeDocument/2006/relationships/image" Target="/ppt/media/image.png" Id="Re63abe4448f846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9b375fd56154f1e" /><Relationship Type="http://schemas.openxmlformats.org/officeDocument/2006/relationships/notesSlide" Target="/ppt/notesSlides/notesSlide4.xml" Id="R6248e27319cc4033" /><Relationship Type="http://schemas.openxmlformats.org/officeDocument/2006/relationships/image" Target="/ppt/media/image2.png" Id="Rc3532052a0c446bb" /><Relationship Type="http://schemas.openxmlformats.org/officeDocument/2006/relationships/image" Target="/ppt/media/image3.png" Id="R23deef3e93494e04" /><Relationship Type="http://schemas.openxmlformats.org/officeDocument/2006/relationships/hyperlink" Target="https://airport-investment-agent-n37j.onrender.com" TargetMode="External" Id="R1338f2d45e8a42a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3f6b45365d4dea" /><Relationship Type="http://schemas.openxmlformats.org/officeDocument/2006/relationships/notesSlide" Target="/ppt/notesSlides/notesSlide5.xml" Id="Rdc5da5cf76944747"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472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472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
        <p:nvSpPr>
          <p:cNvPr id="100028" name="LiveLabel"/>
          <p:cNvSpPr txBox="1"/>
          <p:nvPr/>
        </p:nvSpPr>
        <p:spPr>
          <a:xfrm xmlns:a="http://schemas.openxmlformats.org/drawingml/2006/main">
            <a:off x="540000" y="6120000"/>
            <a:ext cx="104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100" b="0">
                <a:solidFill>
                  <a:srgbClr val="66645E"/>
                </a:solidFill>
                <a:latin typeface="Consolas"/>
                <a:ea typeface="Consolas"/>
              </a:rPr>
              <a:t>LIVE DEMO</a:t>
            </a:r>
          </a:p>
        </p:txBody>
      </p:sp>
      <p:sp>
        <p:nvSpPr>
          <p:cNvPr id="100029" name="LiveUrl">
            <a:hlinkClick xmlns:r="http://schemas.openxmlformats.org/officeDocument/2006/relationships" xmlns:a="http://schemas.openxmlformats.org/drawingml/2006/main" r:id="R8d875f32c5b44bc8"/>
          </p:cNvPr>
          <p:cNvSpPr txBox="1"/>
          <p:nvPr/>
        </p:nvSpPr>
        <p:spPr>
          <a:xfrm xmlns:a="http://schemas.openxmlformats.org/drawingml/2006/main">
            <a:off x="1584000" y="6120000"/>
            <a:ext cx="482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1">
                <a:solidFill>
                  <a:srgbClr val="1B1A17"/>
                </a:solidFill>
                <a:latin typeface="Consolas"/>
                <a:ea typeface="Consolas"/>
                <a:hlinkClick xmlns:r="http://schemas.openxmlformats.org/officeDocument/2006/relationships" r:id="R8d875f32c5b44bc8"/>
              </a:rPr>
              <a:t>https://airport-investment-agent-n37j.onrender.com</a:t>
            </a:r>
          </a:p>
        </p:txBody>
      </p:sp>
      <p:sp>
        <p:nvSpPr>
          <p:cNvPr id="100030" name="LiveNote"/>
          <p:cNvSpPr txBox="1"/>
          <p:nvPr/>
        </p:nvSpPr>
        <p:spPr>
          <a:xfrm xmlns:a="http://schemas.openxmlformats.org/drawingml/2006/main">
            <a:off x="6264000" y="6120000"/>
            <a:ext cx="538812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0">
                <a:solidFill>
                  <a:srgbClr val="66645E"/>
                </a:solidFill>
                <a:latin typeface="Arial"/>
                <a:ea typeface="Arial"/>
              </a:rPr>
              <a:t>Try it in a browser  ·  access code on request</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31"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32"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3"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4"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5"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6"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7"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8"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9"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40"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41"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2"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3"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4"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5"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6"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7"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8"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9"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0"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51"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52"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or a voice call over the same agent. The Mission panel shows the Evidence.</a:t>
            </a:r>
          </a:p>
        </p:txBody>
      </p:sp>
      <p:cxnSp>
        <p:nvCxnSpPr>
          <p:cNvPr id="100053" name="Connector 1"/>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4" name="Connector 2"/>
          <p:cNvCxnSpPr/>
          <p:nvPr/>
        </p:nvCxnSpPr>
        <p:spPr>
          <a:xfrm xmlns:a="http://schemas.openxmlformats.org/drawingml/2006/main">
            <a:off x="589788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5" name="Connector 3"/>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6"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7"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8"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9"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0"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61"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2"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3"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4"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5"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6"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7"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8"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9"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7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7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4"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5"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6" name="PctLabel"/>
          <p:cNvSpPr txBox="1"/>
          <p:nvPr/>
        </p:nvSpPr>
        <p:spPr>
          <a:xfrm xmlns:a="http://schemas.openxmlformats.org/drawingml/2006/main">
            <a:off x="540000" y="1512000"/>
            <a:ext cx="8268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7"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8"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9" name="RowWt1"/>
          <p:cNvSpPr txBox="1"/>
          <p:nvPr/>
        </p:nvSpPr>
        <p:spPr>
          <a:xfrm xmlns:a="http://schemas.openxmlformats.org/drawingml/2006/main">
            <a:off x="7656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80" name="RowMet1"/>
          <p:cNvSpPr txBox="1"/>
          <p:nvPr/>
        </p:nvSpPr>
        <p:spPr>
          <a:xfrm xmlns:a="http://schemas.openxmlformats.org/drawingml/2006/main">
            <a:off x="828000" y="209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81"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3" name="RowWt2"/>
          <p:cNvSpPr txBox="1"/>
          <p:nvPr/>
        </p:nvSpPr>
        <p:spPr>
          <a:xfrm xmlns:a="http://schemas.openxmlformats.org/drawingml/2006/main">
            <a:off x="7656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4" name="RowMet2"/>
          <p:cNvSpPr txBox="1"/>
          <p:nvPr/>
        </p:nvSpPr>
        <p:spPr>
          <a:xfrm xmlns:a="http://schemas.openxmlformats.org/drawingml/2006/main">
            <a:off x="828000" y="290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5"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6"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7" name="RowWt3"/>
          <p:cNvSpPr txBox="1"/>
          <p:nvPr/>
        </p:nvSpPr>
        <p:spPr>
          <a:xfrm xmlns:a="http://schemas.openxmlformats.org/drawingml/2006/main">
            <a:off x="7656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8" name="RowMet3"/>
          <p:cNvSpPr txBox="1"/>
          <p:nvPr/>
        </p:nvSpPr>
        <p:spPr>
          <a:xfrm xmlns:a="http://schemas.openxmlformats.org/drawingml/2006/main">
            <a:off x="828000" y="371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9" name="Formula"/>
          <p:cNvSpPr/>
          <p:nvPr/>
        </p:nvSpPr>
        <p:spPr>
          <a:xfrm xmlns:a="http://schemas.openxmlformats.org/drawingml/2006/main">
            <a:off x="540000" y="4104000"/>
            <a:ext cx="8268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90" name="FormulaLabel"/>
          <p:cNvSpPr txBox="1"/>
          <p:nvPr/>
        </p:nvSpPr>
        <p:spPr>
          <a:xfrm xmlns:a="http://schemas.openxmlformats.org/drawingml/2006/main">
            <a:off x="756000" y="4212000"/>
            <a:ext cx="7836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91" name="FormulaText"/>
          <p:cNvSpPr txBox="1"/>
          <p:nvPr/>
        </p:nvSpPr>
        <p:spPr>
          <a:xfrm xmlns:a="http://schemas.openxmlformats.org/drawingml/2006/main">
            <a:off x="756000" y="4410000"/>
            <a:ext cx="7836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92" name="FormulaNote"/>
          <p:cNvSpPr txBox="1"/>
          <p:nvPr/>
        </p:nvSpPr>
        <p:spPr>
          <a:xfrm xmlns:a="http://schemas.openxmlformats.org/drawingml/2006/main">
            <a:off x="756000" y="4716000"/>
            <a:ext cx="7836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3" name="ShotFrame"/>
          <p:cNvSpPr/>
          <p:nvPr/>
        </p:nvSpPr>
        <p:spPr>
          <a:xfrm xmlns:a="http://schemas.openxmlformats.org/drawingml/2006/main">
            <a:off x="9114120" y="1494000"/>
            <a:ext cx="2556000" cy="431784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4" name="Picture 1" descr="rank_airports Evidence card in the live app for New England: Pillar bars per airport against the median (50), and BOS first with score 73.1 and Pillars 50.2, 86.1, 95.3"/>
          <p:cNvPicPr>
            <a:picLocks xmlns:a="http://schemas.openxmlformats.org/drawingml/2006/main" noChangeAspect="1"/>
          </p:cNvPicPr>
          <p:nvPr/>
        </p:nvPicPr>
        <p:blipFill>
          <a:blip xmlns:r="http://schemas.openxmlformats.org/officeDocument/2006/relationships" xmlns:a="http://schemas.openxmlformats.org/drawingml/2006/main" r:embed="Re63abe4448f846cb"/>
          <a:stretch xmlns:a="http://schemas.openxmlformats.org/drawingml/2006/main">
            <a:fillRect/>
          </a:stretch>
        </p:blipFill>
        <p:spPr>
          <a:xfrm xmlns:a="http://schemas.openxmlformats.org/drawingml/2006/main">
            <a:off x="9132120" y="1512000"/>
            <a:ext cx="2520000" cy="4281840"/>
          </a:xfrm>
          <a:prstGeom xmlns:a="http://schemas.openxmlformats.org/drawingml/2006/main" prst="rect">
            <a:avLst/>
          </a:prstGeom>
        </p:spPr>
      </p:pic>
      <p:sp>
        <p:nvSpPr>
          <p:cNvPr id="100095" name="ShotCap"/>
          <p:cNvSpPr txBox="1"/>
          <p:nvPr/>
        </p:nvSpPr>
        <p:spPr>
          <a:xfrm xmlns:a="http://schemas.openxmlformats.org/drawingml/2006/main">
            <a:off x="9132120" y="5865840"/>
            <a:ext cx="2520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Live app, G1 Mission panel: BOS Pillars 50.2 / 86.1 / 95.3 give 73.1.</a:t>
            </a:r>
          </a:p>
        </p:txBody>
      </p:sp>
      <p:sp>
        <p:nvSpPr>
          <p:cNvPr id="100096" name="FactLab1"/>
          <p:cNvSpPr txBox="1"/>
          <p:nvPr/>
        </p:nvSpPr>
        <p:spPr>
          <a:xfrm xmlns:a="http://schemas.openxmlformats.org/drawingml/2006/main">
            <a:off x="54000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7" name="FactBody1"/>
          <p:cNvSpPr txBox="1"/>
          <p:nvPr/>
        </p:nvSpPr>
        <p:spPr>
          <a:xfrm xmlns:a="http://schemas.openxmlformats.org/drawingml/2006/main">
            <a:off x="54000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A missing metric is imputed at the median (50) and named; Coverage shows as e.g. 5 of 7.</a:t>
            </a:r>
          </a:p>
        </p:txBody>
      </p:sp>
      <p:sp>
        <p:nvSpPr>
          <p:cNvPr id="100098" name="FactLab2"/>
          <p:cNvSpPr txBox="1"/>
          <p:nvPr/>
        </p:nvSpPr>
        <p:spPr>
          <a:xfrm xmlns:a="http://schemas.openxmlformats.org/drawingml/2006/main">
            <a:off x="33681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9" name="FactBody2"/>
          <p:cNvSpPr txBox="1"/>
          <p:nvPr/>
        </p:nvSpPr>
        <p:spPr>
          <a:xfrm xmlns:a="http://schemas.openxmlformats.org/drawingml/2006/main">
            <a:off x="33681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Computed, never judged by the model: High at 7 of 7 Coverage; Medium if provisional, scenario or ad hoc.</a:t>
            </a:r>
          </a:p>
        </p:txBody>
      </p:sp>
      <p:sp>
        <p:nvSpPr>
          <p:cNvPr id="100100" name="FactLab3"/>
          <p:cNvSpPr txBox="1"/>
          <p:nvPr/>
        </p:nvSpPr>
        <p:spPr>
          <a:xfrm xmlns:a="http://schemas.openxmlformats.org/drawingml/2006/main">
            <a:off x="61959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101" name="FactBody3"/>
          <p:cNvSpPr txBox="1"/>
          <p:nvPr/>
        </p:nvSpPr>
        <p:spPr>
          <a:xfrm xmlns:a="http://schemas.openxmlformats.org/drawingml/2006/main">
            <a:off x="61959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02"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LIVE APP</a:t>
            </a:r>
          </a:p>
        </p:txBody>
      </p:sp>
      <p:sp>
        <p:nvSpPr>
          <p:cNvPr id="100103"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4"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5"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6"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7"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8" name="ShotLab1"/>
          <p:cNvSpPr txBox="1"/>
          <p:nvPr/>
        </p:nvSpPr>
        <p:spPr>
          <a:xfrm xmlns:a="http://schemas.openxmlformats.org/drawingml/2006/main">
            <a:off x="54000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G3 · ANCHORAGE LONG-HAUL SHARE</a:t>
            </a:r>
          </a:p>
        </p:txBody>
      </p:sp>
      <p:sp>
        <p:nvSpPr>
          <p:cNvPr id="100109" name="AppFrame1"/>
          <p:cNvSpPr/>
          <p:nvPr/>
        </p:nvSpPr>
        <p:spPr>
          <a:xfrm xmlns:a="http://schemas.openxmlformats.org/drawingml/2006/main">
            <a:off x="52200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0" name="Picture 1" descr="The live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c3532052a0c446bb"/>
          <a:stretch xmlns:a="http://schemas.openxmlformats.org/drawingml/2006/main">
            <a:fillRect/>
          </a:stretch>
        </p:blipFill>
        <p:spPr>
          <a:xfrm xmlns:a="http://schemas.openxmlformats.org/drawingml/2006/main">
            <a:off x="540000" y="1764000"/>
            <a:ext cx="5411880" cy="3382560"/>
          </a:xfrm>
          <a:prstGeom xmlns:a="http://schemas.openxmlformats.org/drawingml/2006/main" prst="rect">
            <a:avLst/>
          </a:prstGeom>
        </p:spPr>
      </p:pic>
      <p:sp>
        <p:nvSpPr>
          <p:cNvPr id="100111" name="ShotCap1"/>
          <p:cNvSpPr txBox="1"/>
          <p:nvPr/>
        </p:nvSpPr>
        <p:spPr>
          <a:xfrm xmlns:a="http://schemas.openxmlformats.org/drawingml/2006/main">
            <a:off x="540000" y="5254560"/>
            <a:ext cx="541188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2.7% of scheduled passenger departures are Long-haul; 6.2% passenger-weighted, 29.5% cargo-inclusive. Evidence: route_mix donuts, Data Confidence High.</a:t>
            </a:r>
          </a:p>
        </p:txBody>
      </p:sp>
      <p:sp>
        <p:nvSpPr>
          <p:cNvPr id="100112" name="ShotLab2"/>
          <p:cNvSpPr txBox="1"/>
          <p:nvPr/>
        </p:nvSpPr>
        <p:spPr>
          <a:xfrm xmlns:a="http://schemas.openxmlformats.org/drawingml/2006/main">
            <a:off x="624024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13" name="AppFrame2"/>
          <p:cNvSpPr/>
          <p:nvPr/>
        </p:nvSpPr>
        <p:spPr>
          <a:xfrm xmlns:a="http://schemas.openxmlformats.org/drawingml/2006/main">
            <a:off x="622224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4" name="Picture 2" descr="The live app answering 'Which airports in New England are strong candidates for terminal expansion?': the top 10 of 16 ranked airports, with BOS, BGR and BTV named the strongest candidates; the Mission panel shows rank_airports Pillar bars and the score table led by BOS 73.1 and BGR 72.4, Data Confidence Medium"/>
          <p:cNvPicPr>
            <a:picLocks xmlns:a="http://schemas.openxmlformats.org/drawingml/2006/main" noChangeAspect="1"/>
          </p:cNvPicPr>
          <p:nvPr/>
        </p:nvPicPr>
        <p:blipFill>
          <a:blip xmlns:r="http://schemas.openxmlformats.org/officeDocument/2006/relationships" xmlns:a="http://schemas.openxmlformats.org/drawingml/2006/main" r:embed="R23deef3e93494e04"/>
          <a:stretch xmlns:a="http://schemas.openxmlformats.org/drawingml/2006/main">
            <a:fillRect/>
          </a:stretch>
        </p:blipFill>
        <p:spPr>
          <a:xfrm xmlns:a="http://schemas.openxmlformats.org/drawingml/2006/main">
            <a:off x="6240240" y="1764000"/>
            <a:ext cx="5411880" cy="3382560"/>
          </a:xfrm>
          <a:prstGeom xmlns:a="http://schemas.openxmlformats.org/drawingml/2006/main" prst="rect">
            <a:avLst/>
          </a:prstGeom>
        </p:spPr>
      </p:pic>
      <p:sp>
        <p:nvSpPr>
          <p:cNvPr id="100115" name="ShotCap2"/>
          <p:cNvSpPr txBox="1"/>
          <p:nvPr/>
        </p:nvSpPr>
        <p:spPr>
          <a:xfrm xmlns:a="http://schemas.openxmlformats.org/drawingml/2006/main">
            <a:off x="6240240" y="5254560"/>
            <a:ext cx="541188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BOS 73.1, BGR 72.4 and BTV 71.9 lead 16 ranked airports. Evidence: rank_airports Pillar bars, Data Confidence Medium (HVN and PSM Provisional).</a:t>
            </a:r>
          </a:p>
        </p:txBody>
      </p:sp>
      <p:sp>
        <p:nvSpPr>
          <p:cNvPr id="100116" name="LiveLabel"/>
          <p:cNvSpPr txBox="1"/>
          <p:nvPr/>
        </p:nvSpPr>
        <p:spPr>
          <a:xfrm xmlns:a="http://schemas.openxmlformats.org/drawingml/2006/main">
            <a:off x="540000" y="6120000"/>
            <a:ext cx="104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100" b="0">
                <a:solidFill>
                  <a:srgbClr val="66645E"/>
                </a:solidFill>
                <a:latin typeface="Consolas"/>
                <a:ea typeface="Consolas"/>
              </a:rPr>
              <a:t>LIVE DEMO</a:t>
            </a:r>
          </a:p>
        </p:txBody>
      </p:sp>
      <p:sp>
        <p:nvSpPr>
          <p:cNvPr id="100117" name="LiveUrl">
            <a:hlinkClick xmlns:r="http://schemas.openxmlformats.org/officeDocument/2006/relationships" xmlns:a="http://schemas.openxmlformats.org/drawingml/2006/main" r:id="R1338f2d45e8a42ad"/>
          </p:cNvPr>
          <p:cNvSpPr txBox="1"/>
          <p:nvPr/>
        </p:nvSpPr>
        <p:spPr>
          <a:xfrm xmlns:a="http://schemas.openxmlformats.org/drawingml/2006/main">
            <a:off x="1584000" y="6120000"/>
            <a:ext cx="482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1">
                <a:solidFill>
                  <a:srgbClr val="1B1A17"/>
                </a:solidFill>
                <a:latin typeface="Consolas"/>
                <a:ea typeface="Consolas"/>
                <a:hlinkClick xmlns:r="http://schemas.openxmlformats.org/officeDocument/2006/relationships" r:id="R1338f2d45e8a42ad"/>
              </a:rPr>
              <a:t>https://airport-investment-agent-n37j.onrender.com</a:t>
            </a:r>
          </a:p>
        </p:txBody>
      </p:sp>
      <p:sp>
        <p:nvSpPr>
          <p:cNvPr id="100118" name="LiveNote"/>
          <p:cNvSpPr txBox="1"/>
          <p:nvPr/>
        </p:nvSpPr>
        <p:spPr>
          <a:xfrm xmlns:a="http://schemas.openxmlformats.org/drawingml/2006/main">
            <a:off x="6264000" y="6120000"/>
            <a:ext cx="538812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0">
                <a:solidFill>
                  <a:srgbClr val="66645E"/>
                </a:solidFill>
                <a:latin typeface="Arial"/>
                <a:ea typeface="Arial"/>
              </a:rPr>
              <a:t>Asked live, 2026-10-22  ·  access code on request</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2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2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25"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6"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7"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8"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Voice delegates to the agent</a:t>
            </a:r>
          </a:p>
          <a:p xmlns:a="http://schemas.openxmlformats.org/drawingml/2006/main">
            <a:r>
              <a:rPr lang="en-US" sz="1600" b="0">
                <a:solidFill>
                  <a:srgbClr val="66645E"/>
                </a:solidFill>
              </a:rPr>
              <a:t>One brain for voice and text; a short pause to pull the numbers.</a:t>
            </a:r>
          </a:p>
        </p:txBody>
      </p:sp>
      <p:sp>
        <p:nvSpPr>
          <p:cNvPr id="100129"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30"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1"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32"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33"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34"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36"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B1A17"/>
      </a:hlink>
      <a:folHlink>
        <a:srgbClr val="1B1A17"/>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2026-10-22T10:30:11.0000000Z</dcterms:created>
  <lastModifiedBy>OfficeCLI</lastModifiedBy>
  <dcterms:modified xsi:type="dcterms:W3CDTF">2026-10-22T10:30:11.8614220Z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2026-10-22T10:30:12Z</vt:lpwstr>
  </op:property>
</op:Properties>
</file>