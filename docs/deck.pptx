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c65fb24f6d3d4cc5" /><Relationship Type="http://schemas.openxmlformats.org/package/2006/relationships/metadata/core-properties" Target="/docProps/core.xml" Id="R920519ba9df5476a" /><Relationship Type="http://schemas.openxmlformats.org/officeDocument/2006/relationships/extended-properties" Target="/docProps/app.xml" Id="R6d78305acc5841f8" /><Relationship Type="http://schemas.openxmlformats.org/officeDocument/2006/relationships/custom-properties" Target="/docProps/custom.xml" Id="R3ff1e9be60dd4f1b"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f0e5163226b94fa3"/>
  </p:notesMasterIdLst>
  <p:sldIdLst>
    <p:sldId id="256" r:id="Rf32a74b1fddc4366"/>
    <p:sldId id="257" r:id="R62bb10bb5d44483f"/>
    <p:sldId id="258" r:id="Ra950cd5dad994503"/>
    <p:sldId id="259" r:id="Redef0ee434b14e77"/>
    <p:sldId id="260" r:id="R3b1f70e6815d44e7"/>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f32a74b1fddc4366" /><Relationship Type="http://schemas.openxmlformats.org/officeDocument/2006/relationships/notesMaster" Target="/ppt/notesMasters/notesMaster1.xml" Id="Rf0e5163226b94fa3" /><Relationship Type="http://schemas.openxmlformats.org/officeDocument/2006/relationships/slide" Target="/ppt/slides/slide2.xml" Id="R62bb10bb5d44483f" /><Relationship Type="http://schemas.openxmlformats.org/officeDocument/2006/relationships/slide" Target="/ppt/slides/slide3.xml" Id="Ra950cd5dad994503" /><Relationship Type="http://schemas.openxmlformats.org/officeDocument/2006/relationships/slide" Target="/ppt/slides/slide4.xml" Id="Redef0ee434b14e77" /><Relationship Type="http://schemas.openxmlformats.org/officeDocument/2006/relationships/slide" Target="/ppt/slides/slide5.xml" Id="R3b1f70e6815d44e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a593074aaac04327"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35b65f1ceb004543" /><Relationship Type="http://schemas.openxmlformats.org/officeDocument/2006/relationships/slide" Target="/ppt/slides/slide1.xml" Id="Rb0c78efead394887"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5812fcc5e2e74836" /><Relationship Type="http://schemas.openxmlformats.org/officeDocument/2006/relationships/slide" Target="/ppt/slides/slide2.xml" Id="Ra05addd3c7294479"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53ee2dbe4c1e419a" /><Relationship Type="http://schemas.openxmlformats.org/officeDocument/2006/relationships/slide" Target="/ppt/slides/slide3.xml" Id="Rcd7f04f618db4445"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fb0e2b5dc1bc47a4" /><Relationship Type="http://schemas.openxmlformats.org/officeDocument/2006/relationships/slide" Target="/ppt/slides/slide4.xml" Id="R914b99b649964416"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d4b21af87cff4fce" /><Relationship Type="http://schemas.openxmlformats.org/officeDocument/2006/relationships/slide" Target="/ppt/slides/slide5.xml" Id="R4ec62b7f4a484a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On the right is the rank_airports Evidence card from the running app answering exam question G1 (New England): BOS has Pillars 50.2, 86.1 and 95.3 and scores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Both screenshots are the running app at 1440 by 900 in light theme: G3 asked from its starter chip and reopened from its saved conversation, and G1 reopened from the Recent chats rail. Left, exam question G3: 2.7% of Anchorage's scheduled passenger departures are Long-haul Flights, with the passenger-weighted 6.2% and cargo-inclusive 29.5% variants and the 3,000-mile definition stated; the Mission panel shows the route_mix call and its donuts and table, Data Confidence High. Right, exam question G1: New England ranked by Investment Opportunity Score, BOS 73.1, BGR 72.4 and BTV 71.9 leading 16 ranked airports; the Mission panel shows the rank_airports call, the Pillar bars and the score table, Data Confidence Medium because HVN and PSM are Provisional.</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schedule Snapshot refreshes, and build the designed voice call.</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09096a82ae4fd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aa05748f41c4fa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bd68bea94404ab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45b7f2c2eda4c4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073616d48224679"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ef994a25f00143f8"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d601efb1e34746bf" /><Relationship Type="http://schemas.openxmlformats.org/officeDocument/2006/relationships/notesSlide" Target="/ppt/notesSlides/notesSlide1.xml" Id="Re76f521d81fe4e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98c213192b4a8e" /><Relationship Type="http://schemas.openxmlformats.org/officeDocument/2006/relationships/notesSlide" Target="/ppt/notesSlides/notesSlide2.xml" Id="R1c4a9100388f42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d62d1799e7a4804" /><Relationship Type="http://schemas.openxmlformats.org/officeDocument/2006/relationships/notesSlide" Target="/ppt/notesSlides/notesSlide3.xml" Id="Rf8df8a97531f42ec" /><Relationship Type="http://schemas.openxmlformats.org/officeDocument/2006/relationships/image" Target="/ppt/media/image.png" Id="R62cf89d4949f44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0de8e4b787945bc" /><Relationship Type="http://schemas.openxmlformats.org/officeDocument/2006/relationships/notesSlide" Target="/ppt/notesSlides/notesSlide4.xml" Id="R1d06cd4ce8c24d65" /><Relationship Type="http://schemas.openxmlformats.org/officeDocument/2006/relationships/image" Target="/ppt/media/image2.png" Id="Rcd22b6b09f304cf9" /><Relationship Type="http://schemas.openxmlformats.org/officeDocument/2006/relationships/image" Target="/ppt/media/image3.png" Id="R4f960e65d7b14c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ae108b9ace34656" /><Relationship Type="http://schemas.openxmlformats.org/officeDocument/2006/relationships/notesSlide" Target="/ppt/notesSlides/notesSlide5.xml" Id="Rbbff534bbf0a4510"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544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544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28"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29"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0"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1"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2"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3"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4"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5"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6"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37"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38"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9"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0"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1"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2"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3"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4"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5"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6"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7"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48"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49"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The Mission panel shows Progress, Evidence tables and charts, and Trace.</a:t>
            </a:r>
          </a:p>
        </p:txBody>
      </p:sp>
      <p:cxnSp>
        <p:nvCxnSpPr>
          <p:cNvPr id="100050" name="Connector 1"/>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1" name="Connector 2"/>
          <p:cNvCxnSpPr/>
          <p:nvPr/>
        </p:nvCxnSpPr>
        <p:spPr>
          <a:xfrm xmlns:a="http://schemas.openxmlformats.org/drawingml/2006/main">
            <a:off x="589788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2" name="Connector 3"/>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3"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4"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5"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6"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7"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58"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9"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0"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1"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2"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3"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4"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5"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6"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67"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68"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9"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0"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1"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2"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3" name="PctLabel"/>
          <p:cNvSpPr txBox="1"/>
          <p:nvPr/>
        </p:nvSpPr>
        <p:spPr>
          <a:xfrm xmlns:a="http://schemas.openxmlformats.org/drawingml/2006/main">
            <a:off x="540000" y="1512000"/>
            <a:ext cx="8268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4"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5"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6" name="RowWt1"/>
          <p:cNvSpPr txBox="1"/>
          <p:nvPr/>
        </p:nvSpPr>
        <p:spPr>
          <a:xfrm xmlns:a="http://schemas.openxmlformats.org/drawingml/2006/main">
            <a:off x="7656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77" name="RowMet1"/>
          <p:cNvSpPr txBox="1"/>
          <p:nvPr/>
        </p:nvSpPr>
        <p:spPr>
          <a:xfrm xmlns:a="http://schemas.openxmlformats.org/drawingml/2006/main">
            <a:off x="828000" y="209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78"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9"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0" name="RowWt2"/>
          <p:cNvSpPr txBox="1"/>
          <p:nvPr/>
        </p:nvSpPr>
        <p:spPr>
          <a:xfrm xmlns:a="http://schemas.openxmlformats.org/drawingml/2006/main">
            <a:off x="7656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1" name="RowMet2"/>
          <p:cNvSpPr txBox="1"/>
          <p:nvPr/>
        </p:nvSpPr>
        <p:spPr>
          <a:xfrm xmlns:a="http://schemas.openxmlformats.org/drawingml/2006/main">
            <a:off x="828000" y="290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2"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3"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4" name="RowWt3"/>
          <p:cNvSpPr txBox="1"/>
          <p:nvPr/>
        </p:nvSpPr>
        <p:spPr>
          <a:xfrm xmlns:a="http://schemas.openxmlformats.org/drawingml/2006/main">
            <a:off x="7656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5" name="RowMet3"/>
          <p:cNvSpPr txBox="1"/>
          <p:nvPr/>
        </p:nvSpPr>
        <p:spPr>
          <a:xfrm xmlns:a="http://schemas.openxmlformats.org/drawingml/2006/main">
            <a:off x="828000" y="371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6" name="Formula"/>
          <p:cNvSpPr/>
          <p:nvPr/>
        </p:nvSpPr>
        <p:spPr>
          <a:xfrm xmlns:a="http://schemas.openxmlformats.org/drawingml/2006/main">
            <a:off x="540000" y="4104000"/>
            <a:ext cx="8268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87" name="FormulaLabel"/>
          <p:cNvSpPr txBox="1"/>
          <p:nvPr/>
        </p:nvSpPr>
        <p:spPr>
          <a:xfrm xmlns:a="http://schemas.openxmlformats.org/drawingml/2006/main">
            <a:off x="756000" y="4212000"/>
            <a:ext cx="7836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88" name="FormulaText"/>
          <p:cNvSpPr txBox="1"/>
          <p:nvPr/>
        </p:nvSpPr>
        <p:spPr>
          <a:xfrm xmlns:a="http://schemas.openxmlformats.org/drawingml/2006/main">
            <a:off x="756000" y="4410000"/>
            <a:ext cx="7836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89" name="FormulaNote"/>
          <p:cNvSpPr txBox="1"/>
          <p:nvPr/>
        </p:nvSpPr>
        <p:spPr>
          <a:xfrm xmlns:a="http://schemas.openxmlformats.org/drawingml/2006/main">
            <a:off x="756000" y="4716000"/>
            <a:ext cx="7836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0" name="ShotFrame"/>
          <p:cNvSpPr/>
          <p:nvPr/>
        </p:nvSpPr>
        <p:spPr>
          <a:xfrm xmlns:a="http://schemas.openxmlformats.org/drawingml/2006/main">
            <a:off x="9114120" y="1494000"/>
            <a:ext cx="2556000" cy="42897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1" name="Picture 1" descr="rank_airports Evidence card in the running app for New England: Pillar bars per airport against the median (50), and BOS first with score 73.1 and Pillars 50.2, 86.1, 95.3"/>
          <p:cNvPicPr>
            <a:picLocks xmlns:a="http://schemas.openxmlformats.org/drawingml/2006/main" noChangeAspect="1"/>
          </p:cNvPicPr>
          <p:nvPr/>
        </p:nvPicPr>
        <p:blipFill>
          <a:blip xmlns:r="http://schemas.openxmlformats.org/officeDocument/2006/relationships" xmlns:a="http://schemas.openxmlformats.org/drawingml/2006/main" r:embed="R62cf89d4949f448d"/>
          <a:stretch xmlns:a="http://schemas.openxmlformats.org/drawingml/2006/main">
            <a:fillRect/>
          </a:stretch>
        </p:blipFill>
        <p:spPr>
          <a:xfrm xmlns:a="http://schemas.openxmlformats.org/drawingml/2006/main">
            <a:off x="9132120" y="1512000"/>
            <a:ext cx="2520000" cy="4253760"/>
          </a:xfrm>
          <a:prstGeom xmlns:a="http://schemas.openxmlformats.org/drawingml/2006/main" prst="rect">
            <a:avLst/>
          </a:prstGeom>
        </p:spPr>
      </p:pic>
      <p:sp>
        <p:nvSpPr>
          <p:cNvPr id="100092" name="ShotCap"/>
          <p:cNvSpPr txBox="1"/>
          <p:nvPr/>
        </p:nvSpPr>
        <p:spPr>
          <a:xfrm xmlns:a="http://schemas.openxmlformats.org/drawingml/2006/main">
            <a:off x="9132120" y="5837760"/>
            <a:ext cx="2520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Running app, G1 Mission panel: BOS Pillars 50.2 / 86.1 / 95.3 give 73.1.</a:t>
            </a:r>
          </a:p>
        </p:txBody>
      </p:sp>
      <p:sp>
        <p:nvSpPr>
          <p:cNvPr id="100093" name="FactLab1"/>
          <p:cNvSpPr txBox="1"/>
          <p:nvPr/>
        </p:nvSpPr>
        <p:spPr>
          <a:xfrm xmlns:a="http://schemas.openxmlformats.org/drawingml/2006/main">
            <a:off x="54000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4" name="FactBody1"/>
          <p:cNvSpPr txBox="1"/>
          <p:nvPr/>
        </p:nvSpPr>
        <p:spPr>
          <a:xfrm xmlns:a="http://schemas.openxmlformats.org/drawingml/2006/main">
            <a:off x="54000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A missing metric is imputed at the median (50) and named; Coverage shows as e.g. 5 of 7.</a:t>
            </a:r>
          </a:p>
        </p:txBody>
      </p:sp>
      <p:sp>
        <p:nvSpPr>
          <p:cNvPr id="100095" name="FactLab2"/>
          <p:cNvSpPr txBox="1"/>
          <p:nvPr/>
        </p:nvSpPr>
        <p:spPr>
          <a:xfrm xmlns:a="http://schemas.openxmlformats.org/drawingml/2006/main">
            <a:off x="33681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6" name="FactBody2"/>
          <p:cNvSpPr txBox="1"/>
          <p:nvPr/>
        </p:nvSpPr>
        <p:spPr>
          <a:xfrm xmlns:a="http://schemas.openxmlformats.org/drawingml/2006/main">
            <a:off x="33681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Computed, never judged by the model: High at 7 of 7 Coverage; Medium if provisional, scenario or ad hoc.</a:t>
            </a:r>
          </a:p>
        </p:txBody>
      </p:sp>
      <p:sp>
        <p:nvSpPr>
          <p:cNvPr id="100097" name="FactLab3"/>
          <p:cNvSpPr txBox="1"/>
          <p:nvPr/>
        </p:nvSpPr>
        <p:spPr>
          <a:xfrm xmlns:a="http://schemas.openxmlformats.org/drawingml/2006/main">
            <a:off x="61959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098" name="FactBody3"/>
          <p:cNvSpPr txBox="1"/>
          <p:nvPr/>
        </p:nvSpPr>
        <p:spPr>
          <a:xfrm xmlns:a="http://schemas.openxmlformats.org/drawingml/2006/main">
            <a:off x="61959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9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RUNNING APP</a:t>
            </a:r>
          </a:p>
        </p:txBody>
      </p:sp>
      <p:sp>
        <p:nvSpPr>
          <p:cNvPr id="10010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5" name="ShotLab1"/>
          <p:cNvSpPr txBox="1"/>
          <p:nvPr/>
        </p:nvSpPr>
        <p:spPr>
          <a:xfrm xmlns:a="http://schemas.openxmlformats.org/drawingml/2006/main">
            <a:off x="54000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G3 · ANCHORAGE LONG-HAUL SHARE</a:t>
            </a:r>
          </a:p>
        </p:txBody>
      </p:sp>
      <p:sp>
        <p:nvSpPr>
          <p:cNvPr id="100106" name="AppFrame1"/>
          <p:cNvSpPr/>
          <p:nvPr/>
        </p:nvSpPr>
        <p:spPr>
          <a:xfrm xmlns:a="http://schemas.openxmlformats.org/drawingml/2006/main">
            <a:off x="52200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07" name="Picture 1" descr="The running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cd22b6b09f304cf9"/>
          <a:stretch xmlns:a="http://schemas.openxmlformats.org/drawingml/2006/main">
            <a:fillRect/>
          </a:stretch>
        </p:blipFill>
        <p:spPr>
          <a:xfrm xmlns:a="http://schemas.openxmlformats.org/drawingml/2006/main">
            <a:off x="540000" y="1764000"/>
            <a:ext cx="5411880" cy="3382560"/>
          </a:xfrm>
          <a:prstGeom xmlns:a="http://schemas.openxmlformats.org/drawingml/2006/main" prst="rect">
            <a:avLst/>
          </a:prstGeom>
        </p:spPr>
      </p:pic>
      <p:sp>
        <p:nvSpPr>
          <p:cNvPr id="100108" name="ShotCap1"/>
          <p:cNvSpPr txBox="1"/>
          <p:nvPr/>
        </p:nvSpPr>
        <p:spPr>
          <a:xfrm xmlns:a="http://schemas.openxmlformats.org/drawingml/2006/main">
            <a:off x="540000" y="5272560"/>
            <a:ext cx="541188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2.7% of scheduled passenger departures are Long-haul (6.2% passenger-weighted, 29.5% cargo-inclusive). Mission panel: route_mix donuts and table, Data Confidence High.</a:t>
            </a:r>
          </a:p>
        </p:txBody>
      </p:sp>
      <p:sp>
        <p:nvSpPr>
          <p:cNvPr id="100109" name="ShotLab2"/>
          <p:cNvSpPr txBox="1"/>
          <p:nvPr/>
        </p:nvSpPr>
        <p:spPr>
          <a:xfrm xmlns:a="http://schemas.openxmlformats.org/drawingml/2006/main">
            <a:off x="624024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10" name="AppFrame2"/>
          <p:cNvSpPr/>
          <p:nvPr/>
        </p:nvSpPr>
        <p:spPr>
          <a:xfrm xmlns:a="http://schemas.openxmlformats.org/drawingml/2006/main">
            <a:off x="622224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1" name="Picture 2" descr="The running app answering 'Which airports in New England are strong candidates for terminal expansion?': a ranking table led by BOS 73.1, BGR 72.4 and BTV 71.9; the Mission panel shows rank_airports Pillar bars and the score table, Data Confidence Medium"/>
          <p:cNvPicPr>
            <a:picLocks xmlns:a="http://schemas.openxmlformats.org/drawingml/2006/main" noChangeAspect="1"/>
          </p:cNvPicPr>
          <p:nvPr/>
        </p:nvPicPr>
        <p:blipFill>
          <a:blip xmlns:r="http://schemas.openxmlformats.org/officeDocument/2006/relationships" xmlns:a="http://schemas.openxmlformats.org/drawingml/2006/main" r:embed="R4f960e65d7b14c3f"/>
          <a:stretch xmlns:a="http://schemas.openxmlformats.org/drawingml/2006/main">
            <a:fillRect/>
          </a:stretch>
        </p:blipFill>
        <p:spPr>
          <a:xfrm xmlns:a="http://schemas.openxmlformats.org/drawingml/2006/main">
            <a:off x="6240240" y="1764000"/>
            <a:ext cx="5411880" cy="3382560"/>
          </a:xfrm>
          <a:prstGeom xmlns:a="http://schemas.openxmlformats.org/drawingml/2006/main" prst="rect">
            <a:avLst/>
          </a:prstGeom>
        </p:spPr>
      </p:pic>
      <p:sp>
        <p:nvSpPr>
          <p:cNvPr id="100112" name="ShotCap2"/>
          <p:cNvSpPr txBox="1"/>
          <p:nvPr/>
        </p:nvSpPr>
        <p:spPr>
          <a:xfrm xmlns:a="http://schemas.openxmlformats.org/drawingml/2006/main">
            <a:off x="6240240" y="5272560"/>
            <a:ext cx="541188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BOS 73.1, BGR 72.4 and BTV 71.9 lead 16 ranked airports. Mission panel: rank_airports Pillar bars and score table, Data Confidence Medium (HVN and PSM Provisional).</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3"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14"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5"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6"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7"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18"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19"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0"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1"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2"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Proven harness</a:t>
            </a:r>
          </a:p>
          <a:p xmlns:a="http://schemas.openxmlformats.org/drawingml/2006/main">
            <a:r>
              <a:rPr lang="en-US" sz="1600" b="0">
                <a:solidFill>
                  <a:srgbClr val="66645E"/>
                </a:solidFill>
              </a:rPr>
              <a:t>Pydantic AI runs the tool loop; no hand-written agent loop.</a:t>
            </a:r>
          </a:p>
        </p:txBody>
      </p:sp>
      <p:sp>
        <p:nvSpPr>
          <p:cNvPr id="100123"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4"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5"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26"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27"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8"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9"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30"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a:p xmlns:a="http://schemas.openxmlformats.org/drawingml/2006/main">
            <a:pPr>
              <a:spcBef>
                <a:spcPts val="1400"/>
              </a:spcBef>
            </a:pPr>
            <a:r>
              <a:rPr lang="en-US" sz="1600" b="1">
                <a:solidFill>
                  <a:srgbClr val="1B1A17"/>
                </a:solidFill>
              </a:rPr>
              <a:t>Voice call</a:t>
            </a:r>
          </a:p>
          <a:p xmlns:a="http://schemas.openxmlformats.org/drawingml/2006/main">
            <a:r>
              <a:rPr lang="en-US" sz="1600" b="0">
                <a:solidFill>
                  <a:srgbClr val="66645E"/>
                </a:solidFill>
              </a:rPr>
              <a:t>designed over the same agent; not built.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OfficeCLI/1.0.143</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2026-10-21T21:54:46.0000000Z</dcterms:created>
  <lastModifiedBy>OfficeCLI</lastModifiedBy>
  <dcterms:modified xsi:type="dcterms:W3CDTF">2026-10-21T21:54:46.6711640Z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1.0.143</vt:lpwstr>
  </op:property>
  <op:property fmtid="{D5CDD505-2E9C-101B-9397-08002B2CF9AE}" pid="3" name="OfficeCLI.LastModified">
    <vt:lpwstr xmlns:vt="http://schemas.openxmlformats.org/officeDocument/2006/docPropsVTypes">2026-10-21T21:54:46Z</vt:lpwstr>
  </op:property>
</op:Properties>
</file>