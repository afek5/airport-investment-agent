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d339cbf89dec4b24" /><Relationship Type="http://schemas.openxmlformats.org/package/2006/relationships/metadata/core-properties" Target="/docProps/core.xml" Id="R5fb80d55551e40bf" /><Relationship Type="http://schemas.openxmlformats.org/officeDocument/2006/relationships/extended-properties" Target="/docProps/app.xml" Id="Racc9ed6b689f431e" /><Relationship Type="http://schemas.openxmlformats.org/officeDocument/2006/relationships/custom-properties" Target="/docProps/custom.xml" Id="R3bec626b26da413d"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59c87c463d4143f0"/>
  </p:notesMasterIdLst>
  <p:sldIdLst>
    <p:sldId id="256" r:id="R769172414a734919"/>
    <p:sldId id="257" r:id="R30ef1c6438884a91"/>
    <p:sldId id="258" r:id="Rdf9b474b4cdf4e66"/>
    <p:sldId id="259" r:id="R6bdaac1b3dd64025"/>
    <p:sldId id="260" r:id="Rf399fd65d57f4aa3"/>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769172414a734919" /><Relationship Type="http://schemas.openxmlformats.org/officeDocument/2006/relationships/notesMaster" Target="/ppt/notesMasters/notesMaster1.xml" Id="R59c87c463d4143f0" /><Relationship Type="http://schemas.openxmlformats.org/officeDocument/2006/relationships/slide" Target="/ppt/slides/slide2.xml" Id="R30ef1c6438884a91" /><Relationship Type="http://schemas.openxmlformats.org/officeDocument/2006/relationships/slide" Target="/ppt/slides/slide3.xml" Id="Rdf9b474b4cdf4e66" /><Relationship Type="http://schemas.openxmlformats.org/officeDocument/2006/relationships/slide" Target="/ppt/slides/slide4.xml" Id="R6bdaac1b3dd64025" /><Relationship Type="http://schemas.openxmlformats.org/officeDocument/2006/relationships/slide" Target="/ppt/slides/slide5.xml" Id="Rf399fd65d57f4aa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efa4b108b23440df"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1438797a6b224b25" /><Relationship Type="http://schemas.openxmlformats.org/officeDocument/2006/relationships/slide" Target="/ppt/slides/slide1.xml" Id="Rc092853312c04f86"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07190161d6264127" /><Relationship Type="http://schemas.openxmlformats.org/officeDocument/2006/relationships/slide" Target="/ppt/slides/slide2.xml" Id="R329519279816495b"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d5637244073e4aac" /><Relationship Type="http://schemas.openxmlformats.org/officeDocument/2006/relationships/slide" Target="/ppt/slides/slide3.xml" Id="R6b246e5a457f4a09"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7001edcd3d7a4f77" /><Relationship Type="http://schemas.openxmlformats.org/officeDocument/2006/relationships/slide" Target="/ppt/slides/slide4.xml" Id="R551857b66a1048f6"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d91c69de1ef04f03" /><Relationship Type="http://schemas.openxmlformats.org/officeDocument/2006/relationships/slide" Target="/ppt/slides/slide5.xml" Id="R850fd8e364ed4a5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An investor wants to know which US airports are the best candidates for terminal modernisation. No public dataset measures renovation profitability, so the agent works from an explicit Investment Thesis. Its three clauses become the three Pillars of the Investment Opportunity Score: Demand Momentum, Capacity Pressure and Market Scale, with default weights 0.35, 0.40 and 0.25. The score is a screening signal: it shortlists airports for a closer look and does not prove a renovation would pay off.</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Left to right. Offline scripts build a dated Snapshot of FAA, BTS and Census data as Parquet; Live Signals are fetched at question time and never change a score. Deterministic tools compute every score, share and Forecast Gap. The Pydantic AI agent on Claude Sonnet 5.5 only picks tools, states Assumptions and explains. The chat shows the answer, and the Mission panel shows each tool's data as tables and charts so every figure can be checked. Every tool returns the same envelope, and a live number-grounding test fails if an answer quotes a number that is not in that run's tool results.</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Each of seven metrics becomes a Percentile Score across the 402 Primary Airports, so a small airport compares with a large hub and outliers cannot stretch the scale. Pillars are weighted means of their metric percentiles. The Investment Opportunity Score is a weighted geometric mean of the Pillars, because the thesis is a conjunction: Martha's Vineyard has Demand Momentum 82.1 but Market Scale 28.4 and scores 54.7. A missing metric is imputed at the median and the score is labelled Provisional with the imputed metrics named. Data Confidence is computed from Coverage and recency, never judged by the model. On the right is the rank_airports Evidence card from the running app answering exam question G1 (New England): BOS has Pillars 50.2, 86.1 and 95.3 and scores 73.1.</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Both screenshots are the running app at 1440 by 900 in light theme, reopening saved conversations from the Recent chats rail. Left, exam question G3: 2.7% of Anchorage's scheduled passenger departures are Long-haul Flights, with the passenger-weighted 6.2% and cargo-inclusive 29.5% variants and the 3,000-mile definition stated; the Mission panel shows the route_mix call and its donuts and table, Data Confidence High. Right, exam question G1: New England ranked by Investment Opportunity Score, BOS 73.1, BGR 72.4 and BTV 71.9 leading 16 ranked airports; the Mission panel shows the rank_airports call, the Pillar bars and the score table, Data Confidence Medium because HVN and PSM are Provisional.</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Tradeoffs: a dated Snapshot makes every score reproducible and the demo independent of API uptime, at the cost of staleness; Live Signals add evidence but never change a score. A geometric mean of percentiles penalises a weak Pillar, and median imputation has a known, disclosed bias. Pydantic AI runs the tool loop instead of a hand-written agent. Limitations: the score screens and does not prove profitability; percentiles favour small, fast-growing airports, as when doubling the growth weight lifts BID and WST into the New England top 10; delay data covers only reporting carriers' domestic flights. Next: backtest the weights against past terminal projects, add gate utilisation and ASPM data, schedule Snapshot refreshes, and build the designed voice call.</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94f6bae98a426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34aa7c6e9194b6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18289c649e7428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d30a1badd22414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edd98f886224e5e"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10a573b3042142c5"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a698f7b857934a4c" /><Relationship Type="http://schemas.openxmlformats.org/officeDocument/2006/relationships/notesSlide" Target="/ppt/notesSlides/notesSlide1.xml" Id="R391fa13810eb4ca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6a3d9667ac6423f" /><Relationship Type="http://schemas.openxmlformats.org/officeDocument/2006/relationships/notesSlide" Target="/ppt/notesSlides/notesSlide2.xml" Id="R9aea29610b2546b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c4212304e354482" /><Relationship Type="http://schemas.openxmlformats.org/officeDocument/2006/relationships/notesSlide" Target="/ppt/notesSlides/notesSlide3.xml" Id="R5f36df902b2a42ca" /><Relationship Type="http://schemas.openxmlformats.org/officeDocument/2006/relationships/image" Target="/ppt/media/image.png" Id="R7d6df98475a442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ab8de1c61a54e19" /><Relationship Type="http://schemas.openxmlformats.org/officeDocument/2006/relationships/notesSlide" Target="/ppt/notesSlides/notesSlide4.xml" Id="R13bc4ad8dc154a9d" /><Relationship Type="http://schemas.openxmlformats.org/officeDocument/2006/relationships/image" Target="/ppt/media/image2.png" Id="R84c46bf5a4824fda" /><Relationship Type="http://schemas.openxmlformats.org/officeDocument/2006/relationships/image" Target="/ppt/media/image3.png" Id="Re59852e05e7f412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b3551f659d3402d" /><Relationship Type="http://schemas.openxmlformats.org/officeDocument/2006/relationships/notesSlide" Target="/ppt/notesSlides/notesSlide5.xml" Id="Rcd2adb6153914441" /></Relationships>
</file>

<file path=ppt/slides/slide1.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00"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01 / 05   ·   THE PROBLEM</a:t>
            </a:r>
          </a:p>
        </p:txBody>
      </p:sp>
      <p:sp>
        <p:nvSpPr>
          <p:cNvPr id="100001"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2"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3"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4"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05" name="Hero"/>
          <p:cNvSpPr txBox="1"/>
          <p:nvPr/>
        </p:nvSpPr>
        <p:spPr>
          <a:xfrm xmlns:a="http://schemas.openxmlformats.org/drawingml/2006/main">
            <a:off x="540000" y="756000"/>
            <a:ext cx="11112120" cy="79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4400" b="0">
                <a:solidFill>
                  <a:srgbClr val="1B1A17"/>
                </a:solidFill>
                <a:latin typeface="Georgia"/>
                <a:ea typeface="Georgia"/>
              </a:rPr>
              <a:t>Where should the next terminal go?</a:t>
            </a:r>
          </a:p>
        </p:txBody>
      </p:sp>
      <p:sp>
        <p:nvSpPr>
          <p:cNvPr id="100006" name="Sub"/>
          <p:cNvSpPr txBox="1"/>
          <p:nvPr/>
        </p:nvSpPr>
        <p:spPr>
          <a:xfrm xmlns:a="http://schemas.openxmlformats.org/drawingml/2006/main">
            <a:off x="540000" y="1656000"/>
            <a:ext cx="10440000" cy="10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66645E"/>
                </a:solidFill>
                <a:latin typeface="Arial"/>
                <a:ea typeface="Arial"/>
              </a:rPr>
              <a:t>A chat agent that ranks the 402 US Primary Airports for terminal-modernisation investment. Deterministic tools compute every score from public FAA, BTS and Census data; the language model picks tools and explains.</a:t>
            </a:r>
          </a:p>
        </p:txBody>
      </p:sp>
      <p:sp>
        <p:nvSpPr>
          <p:cNvPr id="100007" name="ThesisLabel"/>
          <p:cNvSpPr txBox="1"/>
          <p:nvPr/>
        </p:nvSpPr>
        <p:spPr>
          <a:xfrm xmlns:a="http://schemas.openxmlformats.org/drawingml/2006/main">
            <a:off x="540000" y="2736000"/>
            <a:ext cx="900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INVESTMENT THESIS  ·  A RENOVATION IS MOST PROMISING WHERE…</a:t>
            </a:r>
          </a:p>
        </p:txBody>
      </p:sp>
      <p:sp>
        <p:nvSpPr>
          <p:cNvPr id="100008" name="Card1"/>
          <p:cNvSpPr/>
          <p:nvPr/>
        </p:nvSpPr>
        <p:spPr>
          <a:xfrm xmlns:a="http://schemas.openxmlformats.org/drawingml/2006/main">
            <a:off x="54000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09" name="Band1"/>
          <p:cNvSpPr/>
          <p:nvPr/>
        </p:nvSpPr>
        <p:spPr>
          <a:xfrm xmlns:a="http://schemas.openxmlformats.org/drawingml/2006/main">
            <a:off x="540000" y="3024000"/>
            <a:ext cx="3521520" cy="792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10" name="Pillar1"/>
          <p:cNvSpPr txBox="1"/>
          <p:nvPr/>
        </p:nvSpPr>
        <p:spPr>
          <a:xfrm xmlns:a="http://schemas.openxmlformats.org/drawingml/2006/main">
            <a:off x="75600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Demand Momentum</a:t>
            </a:r>
          </a:p>
        </p:txBody>
      </p:sp>
      <p:sp>
        <p:nvSpPr>
          <p:cNvPr id="100011" name="Weight1"/>
          <p:cNvSpPr txBox="1"/>
          <p:nvPr/>
        </p:nvSpPr>
        <p:spPr>
          <a:xfrm xmlns:a="http://schemas.openxmlformats.org/drawingml/2006/main">
            <a:off x="75600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7C69A8"/>
                </a:solidFill>
                <a:latin typeface="Consolas"/>
                <a:ea typeface="Consolas"/>
              </a:rPr>
              <a:t>DEFAULT WEIGHT 0.35</a:t>
            </a:r>
          </a:p>
        </p:txBody>
      </p:sp>
      <p:sp>
        <p:nvSpPr>
          <p:cNvPr id="100012" name="Clause1"/>
          <p:cNvSpPr txBox="1"/>
          <p:nvPr/>
        </p:nvSpPr>
        <p:spPr>
          <a:xfrm xmlns:a="http://schemas.openxmlformats.org/drawingml/2006/main">
            <a:off x="75600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…demand is growing</a:t>
            </a:r>
          </a:p>
        </p:txBody>
      </p:sp>
      <p:sp>
        <p:nvSpPr>
          <p:cNvPr id="100013" name="Metrics1"/>
          <p:cNvSpPr txBox="1"/>
          <p:nvPr/>
        </p:nvSpPr>
        <p:spPr>
          <a:xfrm xmlns:a="http://schemas.openxmlformats.org/drawingml/2006/main">
            <a:off x="75600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FAA forecast growth to FY2035 and CY2024→CY2025 enplanement growth</a:t>
            </a:r>
          </a:p>
        </p:txBody>
      </p:sp>
      <p:sp>
        <p:nvSpPr>
          <p:cNvPr id="100014" name="Card2"/>
          <p:cNvSpPr/>
          <p:nvPr/>
        </p:nvSpPr>
        <p:spPr>
          <a:xfrm xmlns:a="http://schemas.openxmlformats.org/drawingml/2006/main">
            <a:off x="433512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15" name="Band2"/>
          <p:cNvSpPr/>
          <p:nvPr/>
        </p:nvSpPr>
        <p:spPr>
          <a:xfrm xmlns:a="http://schemas.openxmlformats.org/drawingml/2006/main">
            <a:off x="4335120" y="3024000"/>
            <a:ext cx="3521520" cy="792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16" name="Pillar2"/>
          <p:cNvSpPr txBox="1"/>
          <p:nvPr/>
        </p:nvSpPr>
        <p:spPr>
          <a:xfrm xmlns:a="http://schemas.openxmlformats.org/drawingml/2006/main">
            <a:off x="455112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Capacity Pressure</a:t>
            </a:r>
          </a:p>
        </p:txBody>
      </p:sp>
      <p:sp>
        <p:nvSpPr>
          <p:cNvPr id="100017" name="Weight2"/>
          <p:cNvSpPr txBox="1"/>
          <p:nvPr/>
        </p:nvSpPr>
        <p:spPr>
          <a:xfrm xmlns:a="http://schemas.openxmlformats.org/drawingml/2006/main">
            <a:off x="455112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A96C4C"/>
                </a:solidFill>
                <a:latin typeface="Consolas"/>
                <a:ea typeface="Consolas"/>
              </a:rPr>
              <a:t>DEFAULT WEIGHT 0.40</a:t>
            </a:r>
          </a:p>
        </p:txBody>
      </p:sp>
      <p:sp>
        <p:nvSpPr>
          <p:cNvPr id="100018" name="Clause2"/>
          <p:cNvSpPr txBox="1"/>
          <p:nvPr/>
        </p:nvSpPr>
        <p:spPr>
          <a:xfrm xmlns:a="http://schemas.openxmlformats.org/drawingml/2006/main">
            <a:off x="455112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infrastructure is already strained</a:t>
            </a:r>
          </a:p>
        </p:txBody>
      </p:sp>
      <p:sp>
        <p:nvSpPr>
          <p:cNvPr id="100019" name="Metrics2"/>
          <p:cNvSpPr txBox="1"/>
          <p:nvPr/>
        </p:nvSpPr>
        <p:spPr>
          <a:xfrm xmlns:a="http://schemas.openxmlformats.org/drawingml/2006/main">
            <a:off x="455112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Load Factor, departures delayed ≥ 15 min, average taxi-out</a:t>
            </a:r>
          </a:p>
        </p:txBody>
      </p:sp>
      <p:sp>
        <p:nvSpPr>
          <p:cNvPr id="100020" name="Card3"/>
          <p:cNvSpPr/>
          <p:nvPr/>
        </p:nvSpPr>
        <p:spPr>
          <a:xfrm xmlns:a="http://schemas.openxmlformats.org/drawingml/2006/main">
            <a:off x="813060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21" name="Band3"/>
          <p:cNvSpPr/>
          <p:nvPr/>
        </p:nvSpPr>
        <p:spPr>
          <a:xfrm xmlns:a="http://schemas.openxmlformats.org/drawingml/2006/main">
            <a:off x="8130600" y="3024000"/>
            <a:ext cx="3521520" cy="792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2" name="Pillar3"/>
          <p:cNvSpPr txBox="1"/>
          <p:nvPr/>
        </p:nvSpPr>
        <p:spPr>
          <a:xfrm xmlns:a="http://schemas.openxmlformats.org/drawingml/2006/main">
            <a:off x="834660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Market Scale</a:t>
            </a:r>
          </a:p>
        </p:txBody>
      </p:sp>
      <p:sp>
        <p:nvSpPr>
          <p:cNvPr id="100023" name="Weight3"/>
          <p:cNvSpPr txBox="1"/>
          <p:nvPr/>
        </p:nvSpPr>
        <p:spPr>
          <a:xfrm xmlns:a="http://schemas.openxmlformats.org/drawingml/2006/main">
            <a:off x="834660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5C8A6E"/>
                </a:solidFill>
                <a:latin typeface="Consolas"/>
                <a:ea typeface="Consolas"/>
              </a:rPr>
              <a:t>DEFAULT WEIGHT 0.25</a:t>
            </a:r>
          </a:p>
        </p:txBody>
      </p:sp>
      <p:sp>
        <p:nvSpPr>
          <p:cNvPr id="100024" name="Clause3"/>
          <p:cNvSpPr txBox="1"/>
          <p:nvPr/>
        </p:nvSpPr>
        <p:spPr>
          <a:xfrm xmlns:a="http://schemas.openxmlformats.org/drawingml/2006/main">
            <a:off x="834660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market can monetise new capacity</a:t>
            </a:r>
          </a:p>
        </p:txBody>
      </p:sp>
      <p:sp>
        <p:nvSpPr>
          <p:cNvPr id="100025" name="Metrics3"/>
          <p:cNvSpPr txBox="1"/>
          <p:nvPr/>
        </p:nvSpPr>
        <p:spPr>
          <a:xfrm xmlns:a="http://schemas.openxmlformats.org/drawingml/2006/main">
            <a:off x="834660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CY2025 enplanements and metro (CBSA) population</a:t>
            </a:r>
          </a:p>
        </p:txBody>
      </p:sp>
      <p:sp>
        <p:nvSpPr>
          <p:cNvPr id="100026" name="Strap"/>
          <p:cNvSpPr/>
          <p:nvPr/>
        </p:nvSpPr>
        <p:spPr>
          <a:xfrm xmlns:a="http://schemas.openxmlformats.org/drawingml/2006/main">
            <a:off x="540000" y="5544000"/>
            <a:ext cx="11112120" cy="5040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7" name="StrapText"/>
          <p:cNvSpPr txBox="1"/>
          <p:nvPr/>
        </p:nvSpPr>
        <p:spPr>
          <a:xfrm xmlns:a="http://schemas.openxmlformats.org/drawingml/2006/main">
            <a:off x="792000" y="5544000"/>
            <a:ext cx="1060812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0">
                <a:solidFill>
                  <a:srgbClr val="F7F6F2"/>
                </a:solidFill>
                <a:latin typeface="Arial"/>
                <a:ea typeface="Arial"/>
              </a:rPr>
              <a:t>The score screens candidates. It does not prove that a renovation would be profitable.</a:t>
            </a:r>
          </a:p>
        </p:txBody>
      </p:sp>
    </p:spTree>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28"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02 / 05   ·   APPROACH AND ARCHITECTURE</a:t>
            </a:r>
          </a:p>
        </p:txBody>
      </p:sp>
      <p:sp>
        <p:nvSpPr>
          <p:cNvPr id="100029"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0"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1"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2"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From public data to an answer you can check</a:t>
            </a:r>
          </a:p>
        </p:txBody>
      </p:sp>
      <p:sp>
        <p:nvSpPr>
          <p:cNvPr id="100033"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34" name="Step1"/>
          <p:cNvSpPr/>
          <p:nvPr/>
        </p:nvSpPr>
        <p:spPr>
          <a:xfrm xmlns:a="http://schemas.openxmlformats.org/drawingml/2006/main">
            <a:off x="54000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35" name="StepEb1"/>
          <p:cNvSpPr txBox="1"/>
          <p:nvPr/>
        </p:nvSpPr>
        <p:spPr>
          <a:xfrm xmlns:a="http://schemas.openxmlformats.org/drawingml/2006/main">
            <a:off x="72000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PUBLIC DATA</a:t>
            </a:r>
          </a:p>
        </p:txBody>
      </p:sp>
      <p:sp>
        <p:nvSpPr>
          <p:cNvPr id="100036" name="StepHead1"/>
          <p:cNvSpPr txBox="1"/>
          <p:nvPr/>
        </p:nvSpPr>
        <p:spPr>
          <a:xfrm xmlns:a="http://schemas.openxmlformats.org/drawingml/2006/main">
            <a:off x="72000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Snapshot + Live Signals</a:t>
            </a:r>
          </a:p>
        </p:txBody>
      </p:sp>
      <p:sp>
        <p:nvSpPr>
          <p:cNvPr id="100037" name="StepBody1"/>
          <p:cNvSpPr txBox="1"/>
          <p:nvPr/>
        </p:nvSpPr>
        <p:spPr>
          <a:xfrm xmlns:a="http://schemas.openxmlformats.org/drawingml/2006/main">
            <a:off x="72000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FAA, BTS and Census data in a dated Parquet Snapshot, plus Live Signals at question time.</a:t>
            </a:r>
          </a:p>
        </p:txBody>
      </p:sp>
      <p:sp>
        <p:nvSpPr>
          <p:cNvPr id="100038" name="Step2"/>
          <p:cNvSpPr/>
          <p:nvPr/>
        </p:nvSpPr>
        <p:spPr>
          <a:xfrm xmlns:a="http://schemas.openxmlformats.org/drawingml/2006/main">
            <a:off x="341712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39" name="StepEb2"/>
          <p:cNvSpPr txBox="1"/>
          <p:nvPr/>
        </p:nvSpPr>
        <p:spPr>
          <a:xfrm xmlns:a="http://schemas.openxmlformats.org/drawingml/2006/main">
            <a:off x="359712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DETERMINISTIC TOOLS</a:t>
            </a:r>
          </a:p>
        </p:txBody>
      </p:sp>
      <p:sp>
        <p:nvSpPr>
          <p:cNvPr id="100040" name="StepHead2"/>
          <p:cNvSpPr txBox="1"/>
          <p:nvPr/>
        </p:nvSpPr>
        <p:spPr>
          <a:xfrm xmlns:a="http://schemas.openxmlformats.org/drawingml/2006/main">
            <a:off x="359712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Every number computed here</a:t>
            </a:r>
          </a:p>
        </p:txBody>
      </p:sp>
      <p:sp>
        <p:nvSpPr>
          <p:cNvPr id="100041" name="StepBody2"/>
          <p:cNvSpPr txBox="1"/>
          <p:nvPr/>
        </p:nvSpPr>
        <p:spPr>
          <a:xfrm xmlns:a="http://schemas.openxmlformats.org/drawingml/2006/main">
            <a:off x="359712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pPr>
            <a:r>
              <a:rPr lang="en-US" sz="1300" b="0">
                <a:solidFill>
                  <a:srgbClr val="1B1A17"/>
                </a:solidFill>
                <a:latin typeface="Consolas"/>
                <a:ea typeface="Consolas"/>
              </a:rPr>
              <a:t>rank_airports</a:t>
            </a:r>
          </a:p>
          <a:p xmlns:a="http://schemas.openxmlformats.org/drawingml/2006/main">
            <a:pPr algn="l">
              <a:lnSpc>
                <a:spcPct val="120000"/>
              </a:lnSpc>
            </a:pPr>
            <a:r>
              <a:rPr lang="en-US" sz="1300" b="0">
                <a:solidFill>
                  <a:srgbClr val="1B1A17"/>
                </a:solidFill>
                <a:latin typeface="Consolas"/>
                <a:ea typeface="Consolas"/>
              </a:rPr>
              <a:t>airport_scorecard</a:t>
            </a:r>
          </a:p>
          <a:p xmlns:a="http://schemas.openxmlformats.org/drawingml/2006/main">
            <a:pPr algn="l">
              <a:lnSpc>
                <a:spcPct val="120000"/>
              </a:lnSpc>
            </a:pPr>
            <a:r>
              <a:rPr lang="en-US" sz="1300" b="0">
                <a:solidFill>
                  <a:srgbClr val="1B1A17"/>
                </a:solidFill>
                <a:latin typeface="Consolas"/>
                <a:ea typeface="Consolas"/>
              </a:rPr>
              <a:t>compare_airports</a:t>
            </a:r>
          </a:p>
          <a:p xmlns:a="http://schemas.openxmlformats.org/drawingml/2006/main">
            <a:pPr algn="l">
              <a:lnSpc>
                <a:spcPct val="120000"/>
              </a:lnSpc>
            </a:pPr>
            <a:r>
              <a:rPr lang="en-US" sz="1300" b="0">
                <a:solidFill>
                  <a:srgbClr val="1B1A17"/>
                </a:solidFill>
                <a:latin typeface="Consolas"/>
                <a:ea typeface="Consolas"/>
              </a:rPr>
              <a:t>route_mix</a:t>
            </a:r>
          </a:p>
          <a:p xmlns:a="http://schemas.openxmlformats.org/drawingml/2006/main">
            <a:pPr algn="l">
              <a:lnSpc>
                <a:spcPct val="120000"/>
              </a:lnSpc>
            </a:pPr>
            <a:r>
              <a:rPr lang="en-US" sz="1300" b="0">
                <a:solidFill>
                  <a:srgbClr val="1B1A17"/>
                </a:solidFill>
                <a:latin typeface="Consolas"/>
                <a:ea typeface="Consolas"/>
              </a:rPr>
              <a:t>unmet_demand</a:t>
            </a:r>
          </a:p>
          <a:p xmlns:a="http://schemas.openxmlformats.org/drawingml/2006/main">
            <a:pPr algn="l">
              <a:lnSpc>
                <a:spcPct val="120000"/>
              </a:lnSpc>
            </a:pPr>
            <a:r>
              <a:rPr lang="en-US" sz="1300" b="0">
                <a:solidFill>
                  <a:srgbClr val="1B1A17"/>
                </a:solidFill>
                <a:latin typeface="Consolas"/>
                <a:ea typeface="Consolas"/>
              </a:rPr>
              <a:t>query_snapshot</a:t>
            </a:r>
          </a:p>
        </p:txBody>
      </p:sp>
      <p:sp>
        <p:nvSpPr>
          <p:cNvPr id="100042" name="Step3"/>
          <p:cNvSpPr/>
          <p:nvPr/>
        </p:nvSpPr>
        <p:spPr>
          <a:xfrm xmlns:a="http://schemas.openxmlformats.org/drawingml/2006/main">
            <a:off x="6293880" y="1584000"/>
            <a:ext cx="2481120" cy="28080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43" name="StepEb3"/>
          <p:cNvSpPr txBox="1"/>
          <p:nvPr/>
        </p:nvSpPr>
        <p:spPr>
          <a:xfrm xmlns:a="http://schemas.openxmlformats.org/drawingml/2006/main">
            <a:off x="647388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CFCBC2"/>
                </a:solidFill>
                <a:latin typeface="Consolas"/>
                <a:ea typeface="Consolas"/>
              </a:rPr>
              <a:t>AGENT</a:t>
            </a:r>
          </a:p>
        </p:txBody>
      </p:sp>
      <p:sp>
        <p:nvSpPr>
          <p:cNvPr id="100044" name="StepHead3"/>
          <p:cNvSpPr txBox="1"/>
          <p:nvPr/>
        </p:nvSpPr>
        <p:spPr>
          <a:xfrm xmlns:a="http://schemas.openxmlformats.org/drawingml/2006/main">
            <a:off x="647388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F7F6F2"/>
                </a:solidFill>
                <a:latin typeface="Georgia"/>
                <a:ea typeface="Georgia"/>
              </a:rPr>
              <a:t>Pydantic AI agent</a:t>
            </a:r>
          </a:p>
        </p:txBody>
      </p:sp>
      <p:sp>
        <p:nvSpPr>
          <p:cNvPr id="100045" name="StepBody3"/>
          <p:cNvSpPr txBox="1"/>
          <p:nvPr/>
        </p:nvSpPr>
        <p:spPr>
          <a:xfrm xmlns:a="http://schemas.openxmlformats.org/drawingml/2006/main">
            <a:off x="647388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CFCBC2"/>
                </a:solidFill>
                <a:latin typeface="Arial"/>
                <a:ea typeface="Arial"/>
              </a:rPr>
              <a:t>Claude Sonnet 5.5 picks tools, states Assumptions and explains. It never computes a score.</a:t>
            </a:r>
          </a:p>
        </p:txBody>
      </p:sp>
      <p:sp>
        <p:nvSpPr>
          <p:cNvPr id="100046" name="Step4"/>
          <p:cNvSpPr/>
          <p:nvPr/>
        </p:nvSpPr>
        <p:spPr>
          <a:xfrm xmlns:a="http://schemas.openxmlformats.org/drawingml/2006/main">
            <a:off x="917100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47" name="StepEb4"/>
          <p:cNvSpPr txBox="1"/>
          <p:nvPr/>
        </p:nvSpPr>
        <p:spPr>
          <a:xfrm xmlns:a="http://schemas.openxmlformats.org/drawingml/2006/main">
            <a:off x="935100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CHAT + EVIDENCE</a:t>
            </a:r>
          </a:p>
        </p:txBody>
      </p:sp>
      <p:sp>
        <p:nvSpPr>
          <p:cNvPr id="100048" name="StepHead4"/>
          <p:cNvSpPr txBox="1"/>
          <p:nvPr/>
        </p:nvSpPr>
        <p:spPr>
          <a:xfrm xmlns:a="http://schemas.openxmlformats.org/drawingml/2006/main">
            <a:off x="935100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answer and its proof</a:t>
            </a:r>
          </a:p>
        </p:txBody>
      </p:sp>
      <p:sp>
        <p:nvSpPr>
          <p:cNvPr id="100049" name="StepBody4"/>
          <p:cNvSpPr txBox="1"/>
          <p:nvPr/>
        </p:nvSpPr>
        <p:spPr>
          <a:xfrm xmlns:a="http://schemas.openxmlformats.org/drawingml/2006/main">
            <a:off x="935100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Next.js chat. The Mission panel shows Progress, Evidence tables and charts, and Trace.</a:t>
            </a:r>
          </a:p>
        </p:txBody>
      </p:sp>
      <p:cxnSp>
        <p:nvCxnSpPr>
          <p:cNvPr id="100050" name="Connector 1"/>
          <p:cNvCxnSpPr/>
          <p:nvPr/>
        </p:nvCxnSpPr>
        <p:spPr>
          <a:xfrm xmlns:a="http://schemas.openxmlformats.org/drawingml/2006/main">
            <a:off x="302112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cxnSp>
        <p:nvCxnSpPr>
          <p:cNvPr id="100051" name="Connector 2"/>
          <p:cNvCxnSpPr/>
          <p:nvPr/>
        </p:nvCxnSpPr>
        <p:spPr>
          <a:xfrm xmlns:a="http://schemas.openxmlformats.org/drawingml/2006/main">
            <a:off x="589788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cxnSp>
        <p:nvCxnSpPr>
          <p:cNvPr id="100052" name="Connector 3"/>
          <p:cNvCxnSpPr/>
          <p:nvPr/>
        </p:nvCxnSpPr>
        <p:spPr>
          <a:xfrm xmlns:a="http://schemas.openxmlformats.org/drawingml/2006/main">
            <a:off x="877500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sp>
        <p:nvSpPr>
          <p:cNvPr id="100053" name="EnvLabel"/>
          <p:cNvSpPr txBox="1"/>
          <p:nvPr/>
        </p:nvSpPr>
        <p:spPr>
          <a:xfrm xmlns:a="http://schemas.openxmlformats.org/drawingml/2006/main">
            <a:off x="540000" y="4680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EVERY TOOL RETURNS ONE ENVELOPE</a:t>
            </a:r>
          </a:p>
        </p:txBody>
      </p:sp>
      <p:sp>
        <p:nvSpPr>
          <p:cNvPr id="100054" name="Chip1"/>
          <p:cNvSpPr/>
          <p:nvPr/>
        </p:nvSpPr>
        <p:spPr>
          <a:xfrm xmlns:a="http://schemas.openxmlformats.org/drawingml/2006/main">
            <a:off x="540000" y="4914000"/>
            <a:ext cx="720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5" name="ChipText1"/>
          <p:cNvSpPr txBox="1"/>
          <p:nvPr/>
        </p:nvSpPr>
        <p:spPr>
          <a:xfrm xmlns:a="http://schemas.openxmlformats.org/drawingml/2006/main">
            <a:off x="540000" y="4914000"/>
            <a:ext cx="72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data</a:t>
            </a:r>
          </a:p>
        </p:txBody>
      </p:sp>
      <p:sp>
        <p:nvSpPr>
          <p:cNvPr id="100056" name="Chip2"/>
          <p:cNvSpPr/>
          <p:nvPr/>
        </p:nvSpPr>
        <p:spPr>
          <a:xfrm xmlns:a="http://schemas.openxmlformats.org/drawingml/2006/main">
            <a:off x="1386000" y="4914000"/>
            <a:ext cx="2556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7" name="ChipText2"/>
          <p:cNvSpPr txBox="1"/>
          <p:nvPr/>
        </p:nvSpPr>
        <p:spPr>
          <a:xfrm xmlns:a="http://schemas.openxmlformats.org/drawingml/2006/main">
            <a:off x="1386000" y="4914000"/>
            <a:ext cx="255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sources + As-of Dates</a:t>
            </a:r>
          </a:p>
        </p:txBody>
      </p:sp>
      <p:sp>
        <p:nvSpPr>
          <p:cNvPr id="100058" name="Chip3"/>
          <p:cNvSpPr/>
          <p:nvPr/>
        </p:nvSpPr>
        <p:spPr>
          <a:xfrm xmlns:a="http://schemas.openxmlformats.org/drawingml/2006/main">
            <a:off x="4068000" y="4914000"/>
            <a:ext cx="1476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9" name="ChipText3"/>
          <p:cNvSpPr txBox="1"/>
          <p:nvPr/>
        </p:nvSpPr>
        <p:spPr>
          <a:xfrm xmlns:a="http://schemas.openxmlformats.org/drawingml/2006/main">
            <a:off x="4068000" y="4914000"/>
            <a:ext cx="147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assumptions</a:t>
            </a:r>
          </a:p>
        </p:txBody>
      </p:sp>
      <p:sp>
        <p:nvSpPr>
          <p:cNvPr id="100060" name="Chip4"/>
          <p:cNvSpPr/>
          <p:nvPr/>
        </p:nvSpPr>
        <p:spPr>
          <a:xfrm xmlns:a="http://schemas.openxmlformats.org/drawingml/2006/main">
            <a:off x="5670000" y="4914000"/>
            <a:ext cx="1908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1" name="ChipText4"/>
          <p:cNvSpPr txBox="1"/>
          <p:nvPr/>
        </p:nvSpPr>
        <p:spPr>
          <a:xfrm xmlns:a="http://schemas.openxmlformats.org/drawingml/2006/main">
            <a:off x="5670000" y="4914000"/>
            <a:ext cx="1908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data_confidence</a:t>
            </a:r>
          </a:p>
        </p:txBody>
      </p:sp>
      <p:sp>
        <p:nvSpPr>
          <p:cNvPr id="100062" name="Chip5"/>
          <p:cNvSpPr/>
          <p:nvPr/>
        </p:nvSpPr>
        <p:spPr>
          <a:xfrm xmlns:a="http://schemas.openxmlformats.org/drawingml/2006/main">
            <a:off x="7704000" y="4914000"/>
            <a:ext cx="1152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3" name="ChipText5"/>
          <p:cNvSpPr txBox="1"/>
          <p:nvPr/>
        </p:nvSpPr>
        <p:spPr>
          <a:xfrm xmlns:a="http://schemas.openxmlformats.org/drawingml/2006/main">
            <a:off x="7704000" y="4914000"/>
            <a:ext cx="1152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coverage</a:t>
            </a:r>
          </a:p>
        </p:txBody>
      </p:sp>
      <p:sp>
        <p:nvSpPr>
          <p:cNvPr id="100064" name="Chip6"/>
          <p:cNvSpPr/>
          <p:nvPr/>
        </p:nvSpPr>
        <p:spPr>
          <a:xfrm xmlns:a="http://schemas.openxmlformats.org/drawingml/2006/main">
            <a:off x="8982000" y="4914000"/>
            <a:ext cx="1044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5" name="ChipText6"/>
          <p:cNvSpPr txBox="1"/>
          <p:nvPr/>
        </p:nvSpPr>
        <p:spPr>
          <a:xfrm xmlns:a="http://schemas.openxmlformats.org/drawingml/2006/main">
            <a:off x="8982000" y="4914000"/>
            <a:ext cx="1044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caveats</a:t>
            </a:r>
          </a:p>
        </p:txBody>
      </p:sp>
      <p:sp>
        <p:nvSpPr>
          <p:cNvPr id="100066" name="Grounding"/>
          <p:cNvSpPr txBox="1"/>
          <p:nvPr/>
        </p:nvSpPr>
        <p:spPr>
          <a:xfrm xmlns:a="http://schemas.openxmlformats.org/drawingml/2006/main">
            <a:off x="540000" y="5508000"/>
            <a:ext cx="1111212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0">
                <a:solidFill>
                  <a:srgbClr val="1B1A17"/>
                </a:solidFill>
                <a:latin typeface="Arial"/>
                <a:ea typeface="Arial"/>
              </a:rPr>
              <a:t>A live number-grounding test runs the exam questions against the real model and fails if any number in an answer is missing from that run's tool results.</a:t>
            </a:r>
          </a:p>
        </p:txBody>
      </p:sp>
    </p:spTree>
  </p:cSld>
</p:sld>
</file>

<file path=ppt/slides/slide3.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67"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03 / 05   ·   SCORING METHODOLOGY</a:t>
            </a:r>
          </a:p>
        </p:txBody>
      </p:sp>
      <p:sp>
        <p:nvSpPr>
          <p:cNvPr id="100068"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9"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0"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1"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Seven percentiles, three Pillars, one score</a:t>
            </a:r>
          </a:p>
        </p:txBody>
      </p:sp>
      <p:sp>
        <p:nvSpPr>
          <p:cNvPr id="100072"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73" name="PctLabel"/>
          <p:cNvSpPr txBox="1"/>
          <p:nvPr/>
        </p:nvSpPr>
        <p:spPr>
          <a:xfrm xmlns:a="http://schemas.openxmlformats.org/drawingml/2006/main">
            <a:off x="540000" y="1512000"/>
            <a:ext cx="8268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PERCENTILE SCORES (0–100) ACROSS 402 PRIMARY AIRPORTS  ·  WEIGHTS IN BRACKETS</a:t>
            </a:r>
          </a:p>
        </p:txBody>
      </p:sp>
      <p:sp>
        <p:nvSpPr>
          <p:cNvPr id="100074" name="RowSw1"/>
          <p:cNvSpPr/>
          <p:nvPr/>
        </p:nvSpPr>
        <p:spPr>
          <a:xfrm xmlns:a="http://schemas.openxmlformats.org/drawingml/2006/main">
            <a:off x="540000" y="18612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5" name="RowName1"/>
          <p:cNvSpPr txBox="1"/>
          <p:nvPr/>
        </p:nvSpPr>
        <p:spPr>
          <a:xfrm xmlns:a="http://schemas.openxmlformats.org/drawingml/2006/main">
            <a:off x="828000" y="180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Demand Momentum</a:t>
            </a:r>
          </a:p>
        </p:txBody>
      </p:sp>
      <p:sp>
        <p:nvSpPr>
          <p:cNvPr id="100076" name="RowWt1"/>
          <p:cNvSpPr txBox="1"/>
          <p:nvPr/>
        </p:nvSpPr>
        <p:spPr>
          <a:xfrm xmlns:a="http://schemas.openxmlformats.org/drawingml/2006/main">
            <a:off x="7656120" y="180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7C69A8"/>
                </a:solidFill>
                <a:latin typeface="Consolas"/>
                <a:ea typeface="Consolas"/>
              </a:rPr>
              <a:t>0.35</a:t>
            </a:r>
          </a:p>
        </p:txBody>
      </p:sp>
      <p:sp>
        <p:nvSpPr>
          <p:cNvPr id="100077" name="RowMet1"/>
          <p:cNvSpPr txBox="1"/>
          <p:nvPr/>
        </p:nvSpPr>
        <p:spPr>
          <a:xfrm xmlns:a="http://schemas.openxmlformats.org/drawingml/2006/main">
            <a:off x="828000" y="209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FAA TAF enplanement CAGR FY2024→FY2035 (0.60) · enplanement growth CY2024→CY2025 (0.40)</a:t>
            </a:r>
          </a:p>
        </p:txBody>
      </p:sp>
      <p:sp>
        <p:nvSpPr>
          <p:cNvPr id="100078" name="RowSw2"/>
          <p:cNvSpPr/>
          <p:nvPr/>
        </p:nvSpPr>
        <p:spPr>
          <a:xfrm xmlns:a="http://schemas.openxmlformats.org/drawingml/2006/main">
            <a:off x="540000" y="26712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9" name="RowName2"/>
          <p:cNvSpPr txBox="1"/>
          <p:nvPr/>
        </p:nvSpPr>
        <p:spPr>
          <a:xfrm xmlns:a="http://schemas.openxmlformats.org/drawingml/2006/main">
            <a:off x="828000" y="261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Capacity Pressure</a:t>
            </a:r>
          </a:p>
        </p:txBody>
      </p:sp>
      <p:sp>
        <p:nvSpPr>
          <p:cNvPr id="100080" name="RowWt2"/>
          <p:cNvSpPr txBox="1"/>
          <p:nvPr/>
        </p:nvSpPr>
        <p:spPr>
          <a:xfrm xmlns:a="http://schemas.openxmlformats.org/drawingml/2006/main">
            <a:off x="7656120" y="261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A96C4C"/>
                </a:solidFill>
                <a:latin typeface="Consolas"/>
                <a:ea typeface="Consolas"/>
              </a:rPr>
              <a:t>0.40</a:t>
            </a:r>
          </a:p>
        </p:txBody>
      </p:sp>
      <p:sp>
        <p:nvSpPr>
          <p:cNvPr id="100081" name="RowMet2"/>
          <p:cNvSpPr txBox="1"/>
          <p:nvPr/>
        </p:nvSpPr>
        <p:spPr>
          <a:xfrm xmlns:a="http://schemas.openxmlformats.org/drawingml/2006/main">
            <a:off x="828000" y="290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Load Factor, class F (0.40) · departures delayed ≥ 15 min (0.30) · average taxi-out (0.30)</a:t>
            </a:r>
          </a:p>
        </p:txBody>
      </p:sp>
      <p:sp>
        <p:nvSpPr>
          <p:cNvPr id="100082" name="RowSw3"/>
          <p:cNvSpPr/>
          <p:nvPr/>
        </p:nvSpPr>
        <p:spPr>
          <a:xfrm xmlns:a="http://schemas.openxmlformats.org/drawingml/2006/main">
            <a:off x="540000" y="34812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3" name="RowName3"/>
          <p:cNvSpPr txBox="1"/>
          <p:nvPr/>
        </p:nvSpPr>
        <p:spPr>
          <a:xfrm xmlns:a="http://schemas.openxmlformats.org/drawingml/2006/main">
            <a:off x="828000" y="342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Market Scale</a:t>
            </a:r>
          </a:p>
        </p:txBody>
      </p:sp>
      <p:sp>
        <p:nvSpPr>
          <p:cNvPr id="100084" name="RowWt3"/>
          <p:cNvSpPr txBox="1"/>
          <p:nvPr/>
        </p:nvSpPr>
        <p:spPr>
          <a:xfrm xmlns:a="http://schemas.openxmlformats.org/drawingml/2006/main">
            <a:off x="7656120" y="342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5C8A6E"/>
                </a:solidFill>
                <a:latin typeface="Consolas"/>
                <a:ea typeface="Consolas"/>
              </a:rPr>
              <a:t>0.25</a:t>
            </a:r>
          </a:p>
        </p:txBody>
      </p:sp>
      <p:sp>
        <p:nvSpPr>
          <p:cNvPr id="100085" name="RowMet3"/>
          <p:cNvSpPr txBox="1"/>
          <p:nvPr/>
        </p:nvSpPr>
        <p:spPr>
          <a:xfrm xmlns:a="http://schemas.openxmlformats.org/drawingml/2006/main">
            <a:off x="828000" y="371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CY2025 enplanements (0.70) · 2025 metro (CBSA) population (0.30)</a:t>
            </a:r>
          </a:p>
        </p:txBody>
      </p:sp>
      <p:sp>
        <p:nvSpPr>
          <p:cNvPr id="100086" name="Formula"/>
          <p:cNvSpPr/>
          <p:nvPr/>
        </p:nvSpPr>
        <p:spPr>
          <a:xfrm xmlns:a="http://schemas.openxmlformats.org/drawingml/2006/main">
            <a:off x="540000" y="4104000"/>
            <a:ext cx="8268120" cy="1062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87" name="FormulaLabel"/>
          <p:cNvSpPr txBox="1"/>
          <p:nvPr/>
        </p:nvSpPr>
        <p:spPr>
          <a:xfrm xmlns:a="http://schemas.openxmlformats.org/drawingml/2006/main">
            <a:off x="756000" y="4212000"/>
            <a:ext cx="7836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INVESTMENT OPPORTUNITY SCORE  ·  WEIGHTED GEOMETRIC MEAN</a:t>
            </a:r>
          </a:p>
        </p:txBody>
      </p:sp>
      <p:sp>
        <p:nvSpPr>
          <p:cNvPr id="100088" name="FormulaText"/>
          <p:cNvSpPr txBox="1"/>
          <p:nvPr/>
        </p:nvSpPr>
        <p:spPr>
          <a:xfrm xmlns:a="http://schemas.openxmlformats.org/drawingml/2006/main">
            <a:off x="756000" y="4410000"/>
            <a:ext cx="78361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0">
                <a:solidFill>
                  <a:srgbClr val="1B1A17"/>
                </a:solidFill>
                <a:latin typeface="Consolas"/>
                <a:ea typeface="Consolas"/>
              </a:rPr>
              <a:t>exp( Σ w × ln( max(Pillar, 1) ) )</a:t>
            </a:r>
          </a:p>
        </p:txBody>
      </p:sp>
      <p:sp>
        <p:nvSpPr>
          <p:cNvPr id="100089" name="FormulaNote"/>
          <p:cNvSpPr txBox="1"/>
          <p:nvPr/>
        </p:nvSpPr>
        <p:spPr>
          <a:xfrm xmlns:a="http://schemas.openxmlformats.org/drawingml/2006/main">
            <a:off x="756000" y="4716000"/>
            <a:ext cx="7836120" cy="41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A weak Pillar drags the score down: MVY has Demand Momentum 82.1 but Market Scale 28.4, and scores 54.7.</a:t>
            </a:r>
          </a:p>
        </p:txBody>
      </p:sp>
      <p:sp>
        <p:nvSpPr>
          <p:cNvPr id="100090" name="ShotFrame"/>
          <p:cNvSpPr/>
          <p:nvPr/>
        </p:nvSpPr>
        <p:spPr>
          <a:xfrm xmlns:a="http://schemas.openxmlformats.org/drawingml/2006/main">
            <a:off x="9114120" y="1494000"/>
            <a:ext cx="2556000" cy="428976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091" name="Picture 1" descr="rank_airports Evidence card in the running app for New England: Pillar bars per airport against the median (50), and BOS first with score 73.1 and Pillars 50.2, 86.1, 95.3"/>
          <p:cNvPicPr>
            <a:picLocks xmlns:a="http://schemas.openxmlformats.org/drawingml/2006/main" noChangeAspect="1"/>
          </p:cNvPicPr>
          <p:nvPr/>
        </p:nvPicPr>
        <p:blipFill>
          <a:blip xmlns:r="http://schemas.openxmlformats.org/officeDocument/2006/relationships" xmlns:a="http://schemas.openxmlformats.org/drawingml/2006/main" r:embed="R7d6df98475a44205"/>
          <a:stretch xmlns:a="http://schemas.openxmlformats.org/drawingml/2006/main">
            <a:fillRect/>
          </a:stretch>
        </p:blipFill>
        <p:spPr>
          <a:xfrm xmlns:a="http://schemas.openxmlformats.org/drawingml/2006/main">
            <a:off x="9132120" y="1512000"/>
            <a:ext cx="2520000" cy="4253760"/>
          </a:xfrm>
          <a:prstGeom xmlns:a="http://schemas.openxmlformats.org/drawingml/2006/main" prst="rect">
            <a:avLst/>
          </a:prstGeom>
        </p:spPr>
      </p:pic>
      <p:sp>
        <p:nvSpPr>
          <p:cNvPr id="100092" name="ShotCap"/>
          <p:cNvSpPr txBox="1"/>
          <p:nvPr/>
        </p:nvSpPr>
        <p:spPr>
          <a:xfrm xmlns:a="http://schemas.openxmlformats.org/drawingml/2006/main">
            <a:off x="9132120" y="5837760"/>
            <a:ext cx="2520000" cy="5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200" b="0">
                <a:solidFill>
                  <a:srgbClr val="66645E"/>
                </a:solidFill>
                <a:latin typeface="Arial"/>
                <a:ea typeface="Arial"/>
              </a:rPr>
              <a:t>Running app, G1 Mission panel: BOS Pillars 50.2 / 86.1 / 95.3 give 73.1.</a:t>
            </a:r>
          </a:p>
        </p:txBody>
      </p:sp>
      <p:sp>
        <p:nvSpPr>
          <p:cNvPr id="100093" name="FactLab1"/>
          <p:cNvSpPr txBox="1"/>
          <p:nvPr/>
        </p:nvSpPr>
        <p:spPr>
          <a:xfrm xmlns:a="http://schemas.openxmlformats.org/drawingml/2006/main">
            <a:off x="54000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93600A"/>
                </a:solidFill>
                <a:latin typeface="Consolas"/>
                <a:ea typeface="Consolas"/>
              </a:rPr>
              <a:t>PROVISIONAL SCORE</a:t>
            </a:r>
          </a:p>
        </p:txBody>
      </p:sp>
      <p:sp>
        <p:nvSpPr>
          <p:cNvPr id="100094" name="FactBody1"/>
          <p:cNvSpPr txBox="1"/>
          <p:nvPr/>
        </p:nvSpPr>
        <p:spPr>
          <a:xfrm xmlns:a="http://schemas.openxmlformats.org/drawingml/2006/main">
            <a:off x="54000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A missing metric is imputed at the median (50) and named; Coverage shows as e.g. 5 of 7.</a:t>
            </a:r>
          </a:p>
        </p:txBody>
      </p:sp>
      <p:sp>
        <p:nvSpPr>
          <p:cNvPr id="100095" name="FactLab2"/>
          <p:cNvSpPr txBox="1"/>
          <p:nvPr/>
        </p:nvSpPr>
        <p:spPr>
          <a:xfrm xmlns:a="http://schemas.openxmlformats.org/drawingml/2006/main">
            <a:off x="336816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1D7F53"/>
                </a:solidFill>
                <a:latin typeface="Consolas"/>
                <a:ea typeface="Consolas"/>
              </a:rPr>
              <a:t>DATA CONFIDENCE</a:t>
            </a:r>
          </a:p>
        </p:txBody>
      </p:sp>
      <p:sp>
        <p:nvSpPr>
          <p:cNvPr id="100096" name="FactBody2"/>
          <p:cNvSpPr txBox="1"/>
          <p:nvPr/>
        </p:nvSpPr>
        <p:spPr>
          <a:xfrm xmlns:a="http://schemas.openxmlformats.org/drawingml/2006/main">
            <a:off x="336816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Computed, never judged by the model: High at 7 of 7 Coverage; Medium if provisional, scenario or ad hoc.</a:t>
            </a:r>
          </a:p>
        </p:txBody>
      </p:sp>
      <p:sp>
        <p:nvSpPr>
          <p:cNvPr id="100097" name="FactLab3"/>
          <p:cNvSpPr txBox="1"/>
          <p:nvPr/>
        </p:nvSpPr>
        <p:spPr>
          <a:xfrm xmlns:a="http://schemas.openxmlformats.org/drawingml/2006/main">
            <a:off x="619596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1B1A17"/>
                </a:solidFill>
                <a:latin typeface="Consolas"/>
                <a:ea typeface="Consolas"/>
              </a:rPr>
              <a:t>WHAT IT IS NOT</a:t>
            </a:r>
          </a:p>
        </p:txBody>
      </p:sp>
      <p:sp>
        <p:nvSpPr>
          <p:cNvPr id="100098" name="FactBody3"/>
          <p:cNvSpPr txBox="1"/>
          <p:nvPr/>
        </p:nvSpPr>
        <p:spPr>
          <a:xfrm xmlns:a="http://schemas.openxmlformats.org/drawingml/2006/main">
            <a:off x="619596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Screens candidates; does not prove profitability. No project cost, gate utilisation or revenue data.</a:t>
            </a:r>
          </a:p>
        </p:txBody>
      </p:sp>
    </p:spTree>
  </p:cSld>
</p:sld>
</file>

<file path=ppt/slides/slide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99"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04 / 05   ·   DEMO  ·  THE RUNNING APP</a:t>
            </a:r>
          </a:p>
        </p:txBody>
      </p:sp>
      <p:sp>
        <p:nvSpPr>
          <p:cNvPr id="100100"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1"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2"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3"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Exam questions answered, evidence alongside</a:t>
            </a:r>
          </a:p>
        </p:txBody>
      </p:sp>
      <p:sp>
        <p:nvSpPr>
          <p:cNvPr id="100104"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105" name="ShotLab1"/>
          <p:cNvSpPr txBox="1"/>
          <p:nvPr/>
        </p:nvSpPr>
        <p:spPr>
          <a:xfrm xmlns:a="http://schemas.openxmlformats.org/drawingml/2006/main">
            <a:off x="540000" y="1512000"/>
            <a:ext cx="541188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G3 · ANCHORAGE LONG-HAUL SHARE</a:t>
            </a:r>
          </a:p>
        </p:txBody>
      </p:sp>
      <p:sp>
        <p:nvSpPr>
          <p:cNvPr id="100106" name="AppFrame1"/>
          <p:cNvSpPr/>
          <p:nvPr/>
        </p:nvSpPr>
        <p:spPr>
          <a:xfrm xmlns:a="http://schemas.openxmlformats.org/drawingml/2006/main">
            <a:off x="522000" y="1746000"/>
            <a:ext cx="5447880" cy="341856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107" name="Picture 1" descr="The running app answering 'What is the percentage of long haul flights out of Anchorage airport?': 2.7% of class F departures are Long-haul Flights; the Mission panel shows route_mix donuts at 2.7%, 6.2% and 29.5% and Data Confidence High"/>
          <p:cNvPicPr>
            <a:picLocks xmlns:a="http://schemas.openxmlformats.org/drawingml/2006/main" noChangeAspect="1"/>
          </p:cNvPicPr>
          <p:nvPr/>
        </p:nvPicPr>
        <p:blipFill>
          <a:blip xmlns:r="http://schemas.openxmlformats.org/officeDocument/2006/relationships" xmlns:a="http://schemas.openxmlformats.org/drawingml/2006/main" r:embed="R84c46bf5a4824fda"/>
          <a:stretch xmlns:a="http://schemas.openxmlformats.org/drawingml/2006/main">
            <a:fillRect/>
          </a:stretch>
        </p:blipFill>
        <p:spPr>
          <a:xfrm xmlns:a="http://schemas.openxmlformats.org/drawingml/2006/main">
            <a:off x="540000" y="1764000"/>
            <a:ext cx="5411880" cy="3382560"/>
          </a:xfrm>
          <a:prstGeom xmlns:a="http://schemas.openxmlformats.org/drawingml/2006/main" prst="rect">
            <a:avLst/>
          </a:prstGeom>
        </p:spPr>
      </p:pic>
      <p:sp>
        <p:nvSpPr>
          <p:cNvPr id="100108" name="ShotCap1"/>
          <p:cNvSpPr txBox="1"/>
          <p:nvPr/>
        </p:nvSpPr>
        <p:spPr>
          <a:xfrm xmlns:a="http://schemas.openxmlformats.org/drawingml/2006/main">
            <a:off x="540000" y="5272560"/>
            <a:ext cx="541188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1B1A17"/>
                </a:solidFill>
                <a:latin typeface="Arial"/>
                <a:ea typeface="Arial"/>
              </a:rPr>
              <a:t>2.7% of scheduled passenger departures are Long-haul (6.2% passenger-weighted, 29.5% cargo-inclusive). Mission panel: route_mix donuts and table, Data Confidence High.</a:t>
            </a:r>
          </a:p>
        </p:txBody>
      </p:sp>
      <p:sp>
        <p:nvSpPr>
          <p:cNvPr id="100109" name="ShotLab2"/>
          <p:cNvSpPr txBox="1"/>
          <p:nvPr/>
        </p:nvSpPr>
        <p:spPr>
          <a:xfrm xmlns:a="http://schemas.openxmlformats.org/drawingml/2006/main">
            <a:off x="6240240" y="1512000"/>
            <a:ext cx="541188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G1 · NEW ENGLAND RANKING</a:t>
            </a:r>
          </a:p>
        </p:txBody>
      </p:sp>
      <p:sp>
        <p:nvSpPr>
          <p:cNvPr id="100110" name="AppFrame2"/>
          <p:cNvSpPr/>
          <p:nvPr/>
        </p:nvSpPr>
        <p:spPr>
          <a:xfrm xmlns:a="http://schemas.openxmlformats.org/drawingml/2006/main">
            <a:off x="6222240" y="1746000"/>
            <a:ext cx="5447880" cy="341856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111" name="Picture 2" descr="The running app answering 'Which airports in New England are strong candidates for terminal expansion?': a ranking table led by BOS 73.1, BGR 72.4 and BTV 71.9; the Mission panel shows rank_airports Pillar bars and the score table, Data Confidence Medium"/>
          <p:cNvPicPr>
            <a:picLocks xmlns:a="http://schemas.openxmlformats.org/drawingml/2006/main" noChangeAspect="1"/>
          </p:cNvPicPr>
          <p:nvPr/>
        </p:nvPicPr>
        <p:blipFill>
          <a:blip xmlns:r="http://schemas.openxmlformats.org/officeDocument/2006/relationships" xmlns:a="http://schemas.openxmlformats.org/drawingml/2006/main" r:embed="Re59852e05e7f4120"/>
          <a:stretch xmlns:a="http://schemas.openxmlformats.org/drawingml/2006/main">
            <a:fillRect/>
          </a:stretch>
        </p:blipFill>
        <p:spPr>
          <a:xfrm xmlns:a="http://schemas.openxmlformats.org/drawingml/2006/main">
            <a:off x="6240240" y="1764000"/>
            <a:ext cx="5411880" cy="3382560"/>
          </a:xfrm>
          <a:prstGeom xmlns:a="http://schemas.openxmlformats.org/drawingml/2006/main" prst="rect">
            <a:avLst/>
          </a:prstGeom>
        </p:spPr>
      </p:pic>
      <p:sp>
        <p:nvSpPr>
          <p:cNvPr id="100112" name="ShotCap2"/>
          <p:cNvSpPr txBox="1"/>
          <p:nvPr/>
        </p:nvSpPr>
        <p:spPr>
          <a:xfrm xmlns:a="http://schemas.openxmlformats.org/drawingml/2006/main">
            <a:off x="6240240" y="5272560"/>
            <a:ext cx="541188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1B1A17"/>
                </a:solidFill>
                <a:latin typeface="Arial"/>
                <a:ea typeface="Arial"/>
              </a:rPr>
              <a:t>BOS 73.1, BGR 72.4 and BTV 71.9 lead 16 ranked airports. Mission panel: rank_airports Pillar bars and score table, Data Confidence Medium (HVN and PSM Provisional).</a:t>
            </a:r>
          </a:p>
        </p:txBody>
      </p:sp>
    </p:spTree>
  </p:cSld>
</p:sld>
</file>

<file path=ppt/slides/slide5.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113"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05 / 05   ·   TRADEOFFS AND NEXT STEPS</a:t>
            </a:r>
          </a:p>
        </p:txBody>
      </p:sp>
      <p:sp>
        <p:nvSpPr>
          <p:cNvPr id="100114"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5"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6"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7"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Tradeoffs, limits and next steps</a:t>
            </a:r>
          </a:p>
        </p:txBody>
      </p:sp>
      <p:sp>
        <p:nvSpPr>
          <p:cNvPr id="100118"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119" name="Col1"/>
          <p:cNvSpPr/>
          <p:nvPr/>
        </p:nvSpPr>
        <p:spPr>
          <a:xfrm xmlns:a="http://schemas.openxmlformats.org/drawingml/2006/main">
            <a:off x="54000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20" name="ColBand1"/>
          <p:cNvSpPr/>
          <p:nvPr/>
        </p:nvSpPr>
        <p:spPr>
          <a:xfrm xmlns:a="http://schemas.openxmlformats.org/drawingml/2006/main">
            <a:off x="540000" y="1512000"/>
            <a:ext cx="3521520" cy="792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1" name="ColLab1"/>
          <p:cNvSpPr txBox="1"/>
          <p:nvPr/>
        </p:nvSpPr>
        <p:spPr>
          <a:xfrm xmlns:a="http://schemas.openxmlformats.org/drawingml/2006/main">
            <a:off x="75600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TRADEOFFS</a:t>
            </a:r>
          </a:p>
        </p:txBody>
      </p:sp>
      <p:sp>
        <p:nvSpPr>
          <p:cNvPr id="100122" name="ColBody1"/>
          <p:cNvSpPr txBox="1"/>
          <p:nvPr/>
        </p:nvSpPr>
        <p:spPr>
          <a:xfrm xmlns:a="http://schemas.openxmlformats.org/drawingml/2006/main">
            <a:off x="75600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Snapshot + Live Signals</a:t>
            </a:r>
          </a:p>
          <a:p xmlns:a="http://schemas.openxmlformats.org/drawingml/2006/main">
            <a:r>
              <a:rPr lang="en-US" sz="1600" b="0">
                <a:solidFill>
                  <a:srgbClr val="66645E"/>
                </a:solidFill>
              </a:rPr>
              <a:t>Reproducible scores and a demo that survives API outages; the cost is staleness.</a:t>
            </a:r>
          </a:p>
          <a:p xmlns:a="http://schemas.openxmlformats.org/drawingml/2006/main">
            <a:pPr>
              <a:spcBef>
                <a:spcPts val="1400"/>
              </a:spcBef>
            </a:pPr>
            <a:r>
              <a:rPr lang="en-US" sz="1600" b="1">
                <a:solidFill>
                  <a:srgbClr val="1B1A17"/>
                </a:solidFill>
              </a:rPr>
              <a:t>Geometric mean of percentiles</a:t>
            </a:r>
          </a:p>
          <a:p xmlns:a="http://schemas.openxmlformats.org/drawingml/2006/main">
            <a:r>
              <a:rPr lang="en-US" sz="1600" b="0">
                <a:solidFill>
                  <a:srgbClr val="66645E"/>
                </a:solidFill>
              </a:rPr>
              <a:t>A weak Pillar hurts; outliers can't stretch the scale.</a:t>
            </a:r>
          </a:p>
          <a:p xmlns:a="http://schemas.openxmlformats.org/drawingml/2006/main">
            <a:pPr>
              <a:spcBef>
                <a:spcPts val="1400"/>
              </a:spcBef>
            </a:pPr>
            <a:r>
              <a:rPr lang="en-US" sz="1600" b="1">
                <a:solidFill>
                  <a:srgbClr val="1B1A17"/>
                </a:solidFill>
              </a:rPr>
              <a:t>Median imputation, disclosed</a:t>
            </a:r>
          </a:p>
          <a:p xmlns:a="http://schemas.openxmlformats.org/drawingml/2006/main">
            <a:r>
              <a:rPr lang="en-US" sz="1600" b="0">
                <a:solidFill>
                  <a:srgbClr val="66645E"/>
                </a:solidFill>
              </a:rPr>
              <a:t>Pulls a Provisional Score toward the middle, always named.</a:t>
            </a:r>
          </a:p>
          <a:p xmlns:a="http://schemas.openxmlformats.org/drawingml/2006/main">
            <a:pPr>
              <a:spcBef>
                <a:spcPts val="1400"/>
              </a:spcBef>
            </a:pPr>
            <a:r>
              <a:rPr lang="en-US" sz="1600" b="1">
                <a:solidFill>
                  <a:srgbClr val="1B1A17"/>
                </a:solidFill>
              </a:rPr>
              <a:t>Proven harness</a:t>
            </a:r>
          </a:p>
          <a:p xmlns:a="http://schemas.openxmlformats.org/drawingml/2006/main">
            <a:r>
              <a:rPr lang="en-US" sz="1600" b="0">
                <a:solidFill>
                  <a:srgbClr val="66645E"/>
                </a:solidFill>
              </a:rPr>
              <a:t>Pydantic AI runs the tool loop; no hand-written agent loop.</a:t>
            </a:r>
          </a:p>
        </p:txBody>
      </p:sp>
      <p:sp>
        <p:nvSpPr>
          <p:cNvPr id="100123" name="Col2"/>
          <p:cNvSpPr/>
          <p:nvPr/>
        </p:nvSpPr>
        <p:spPr>
          <a:xfrm xmlns:a="http://schemas.openxmlformats.org/drawingml/2006/main">
            <a:off x="433512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24" name="ColBand2"/>
          <p:cNvSpPr/>
          <p:nvPr/>
        </p:nvSpPr>
        <p:spPr>
          <a:xfrm xmlns:a="http://schemas.openxmlformats.org/drawingml/2006/main">
            <a:off x="4335120" y="1512000"/>
            <a:ext cx="3521520" cy="79200"/>
          </a:xfrm>
          <a:prstGeom xmlns:a="http://schemas.openxmlformats.org/drawingml/2006/main" prst="rect">
            <a:avLst/>
          </a:prstGeom>
          <a:solidFill xmlns:a="http://schemas.openxmlformats.org/drawingml/2006/main">
            <a:srgbClr val="93600A"/>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5" name="ColLab2"/>
          <p:cNvSpPr txBox="1"/>
          <p:nvPr/>
        </p:nvSpPr>
        <p:spPr>
          <a:xfrm xmlns:a="http://schemas.openxmlformats.org/drawingml/2006/main">
            <a:off x="455112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93600A"/>
                </a:solidFill>
                <a:latin typeface="Consolas"/>
                <a:ea typeface="Consolas"/>
              </a:rPr>
              <a:t>LIMITATIONS</a:t>
            </a:r>
          </a:p>
        </p:txBody>
      </p:sp>
      <p:sp>
        <p:nvSpPr>
          <p:cNvPr id="100126" name="ColBody2"/>
          <p:cNvSpPr txBox="1"/>
          <p:nvPr/>
        </p:nvSpPr>
        <p:spPr>
          <a:xfrm xmlns:a="http://schemas.openxmlformats.org/drawingml/2006/main">
            <a:off x="455112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Screens, doesn't prove</a:t>
            </a:r>
          </a:p>
          <a:p xmlns:a="http://schemas.openxmlformats.org/drawingml/2006/main">
            <a:r>
              <a:rPr lang="en-US" sz="1600" b="0">
                <a:solidFill>
                  <a:srgbClr val="66645E"/>
                </a:solidFill>
              </a:rPr>
              <a:t>Profitability needs project cost, gate utilisation, commercial revenue and feasibility.</a:t>
            </a:r>
          </a:p>
          <a:p xmlns:a="http://schemas.openxmlformats.org/drawingml/2006/main">
            <a:pPr>
              <a:spcBef>
                <a:spcPts val="1400"/>
              </a:spcBef>
            </a:pPr>
            <a:r>
              <a:rPr lang="en-US" sz="1600" b="1">
                <a:solidFill>
                  <a:srgbClr val="1B1A17"/>
                </a:solidFill>
              </a:rPr>
              <a:t>Percentiles favour small, fast growers</a:t>
            </a:r>
          </a:p>
          <a:p xmlns:a="http://schemas.openxmlformats.org/drawingml/2006/main">
            <a:r>
              <a:rPr lang="en-US" sz="1600" b="0">
                <a:solidFill>
                  <a:srgbClr val="66645E"/>
                </a:solidFill>
              </a:rPr>
              <a:t>Doubling growth lifts BID and WST into the New England top 10.</a:t>
            </a:r>
          </a:p>
          <a:p xmlns:a="http://schemas.openxmlformats.org/drawingml/2006/main">
            <a:pPr>
              <a:spcBef>
                <a:spcPts val="1400"/>
              </a:spcBef>
            </a:pPr>
            <a:r>
              <a:rPr lang="en-US" sz="1600" b="1">
                <a:solidFill>
                  <a:srgbClr val="1B1A17"/>
                </a:solidFill>
              </a:rPr>
              <a:t>Partial delay data</a:t>
            </a:r>
          </a:p>
          <a:p xmlns:a="http://schemas.openxmlformats.org/drawingml/2006/main">
            <a:r>
              <a:rPr lang="en-US" sz="1600" b="0">
                <a:solidFill>
                  <a:srgbClr val="66645E"/>
                </a:solidFill>
              </a:rPr>
              <a:t>On-Time covers reporting carriers' domestic flights only; Load Factor is not spill.</a:t>
            </a:r>
          </a:p>
        </p:txBody>
      </p:sp>
      <p:sp>
        <p:nvSpPr>
          <p:cNvPr id="100127" name="Col3"/>
          <p:cNvSpPr/>
          <p:nvPr/>
        </p:nvSpPr>
        <p:spPr>
          <a:xfrm xmlns:a="http://schemas.openxmlformats.org/drawingml/2006/main">
            <a:off x="813060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28" name="ColBand3"/>
          <p:cNvSpPr/>
          <p:nvPr/>
        </p:nvSpPr>
        <p:spPr>
          <a:xfrm xmlns:a="http://schemas.openxmlformats.org/drawingml/2006/main">
            <a:off x="8130600" y="1512000"/>
            <a:ext cx="3521520" cy="792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9" name="ColLab3"/>
          <p:cNvSpPr txBox="1"/>
          <p:nvPr/>
        </p:nvSpPr>
        <p:spPr>
          <a:xfrm xmlns:a="http://schemas.openxmlformats.org/drawingml/2006/main">
            <a:off x="834660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5C8A6E"/>
                </a:solidFill>
                <a:latin typeface="Consolas"/>
                <a:ea typeface="Consolas"/>
              </a:rPr>
              <a:t>NEXT STEPS</a:t>
            </a:r>
          </a:p>
        </p:txBody>
      </p:sp>
      <p:sp>
        <p:nvSpPr>
          <p:cNvPr id="100130" name="ColBody3"/>
          <p:cNvSpPr txBox="1"/>
          <p:nvPr/>
        </p:nvSpPr>
        <p:spPr>
          <a:xfrm xmlns:a="http://schemas.openxmlformats.org/drawingml/2006/main">
            <a:off x="834660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Backtest the Pillar Weights</a:t>
            </a:r>
          </a:p>
          <a:p xmlns:a="http://schemas.openxmlformats.org/drawingml/2006/main">
            <a:r>
              <a:rPr lang="en-US" sz="1600" b="0">
                <a:solidFill>
                  <a:srgbClr val="66645E"/>
                </a:solidFill>
              </a:rPr>
              <a:t>against past terminal projects.</a:t>
            </a:r>
          </a:p>
          <a:p xmlns:a="http://schemas.openxmlformats.org/drawingml/2006/main">
            <a:pPr>
              <a:spcBef>
                <a:spcPts val="1400"/>
              </a:spcBef>
            </a:pPr>
            <a:r>
              <a:rPr lang="en-US" sz="1600" b="1">
                <a:solidFill>
                  <a:srgbClr val="1B1A17"/>
                </a:solidFill>
              </a:rPr>
              <a:t>Add data</a:t>
            </a:r>
          </a:p>
          <a:p xmlns:a="http://schemas.openxmlformats.org/drawingml/2006/main">
            <a:r>
              <a:rPr lang="en-US" sz="1600" b="0">
                <a:solidFill>
                  <a:srgbClr val="66645E"/>
                </a:solidFill>
              </a:rPr>
              <a:t>gate utilisation and ASPM.</a:t>
            </a:r>
          </a:p>
          <a:p xmlns:a="http://schemas.openxmlformats.org/drawingml/2006/main">
            <a:pPr>
              <a:spcBef>
                <a:spcPts val="1400"/>
              </a:spcBef>
            </a:pPr>
            <a:r>
              <a:rPr lang="en-US" sz="1600" b="1">
                <a:solidFill>
                  <a:srgbClr val="1B1A17"/>
                </a:solidFill>
              </a:rPr>
              <a:t>Schedule Snapshot refreshes</a:t>
            </a:r>
          </a:p>
          <a:p xmlns:a="http://schemas.openxmlformats.org/drawingml/2006/main">
            <a:r>
              <a:rPr lang="en-US" sz="1600" b="0">
                <a:solidFill>
                  <a:srgbClr val="66645E"/>
                </a:solidFill>
              </a:rPr>
              <a:t>so As-of Dates stay current.</a:t>
            </a:r>
          </a:p>
          <a:p xmlns:a="http://schemas.openxmlformats.org/drawingml/2006/main">
            <a:pPr>
              <a:spcBef>
                <a:spcPts val="1400"/>
              </a:spcBef>
            </a:pPr>
            <a:r>
              <a:rPr lang="en-US" sz="1600" b="1">
                <a:solidFill>
                  <a:srgbClr val="1B1A17"/>
                </a:solidFill>
              </a:rPr>
              <a:t>Voice call</a:t>
            </a:r>
          </a:p>
          <a:p xmlns:a="http://schemas.openxmlformats.org/drawingml/2006/main">
            <a:r>
              <a:rPr lang="en-US" sz="1600" b="0">
                <a:solidFill>
                  <a:srgbClr val="66645E"/>
                </a:solidFill>
              </a:rPr>
              <a:t>designed over the same agent; not built.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OfficeCLI/1.0.143</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2026-10-21T21:22:22.0000000Z</dcterms:created>
  <lastModifiedBy>OfficeCLI</lastModifiedBy>
  <dcterms:modified xsi:type="dcterms:W3CDTF">2026-10-21T21:22:23.2797830Z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1.0.143</vt:lpwstr>
  </op:property>
  <op:property fmtid="{D5CDD505-2E9C-101B-9397-08002B2CF9AE}" pid="3" name="OfficeCLI.LastModified">
    <vt:lpwstr xmlns:vt="http://schemas.openxmlformats.org/officeDocument/2006/docPropsVTypes">2026-10-21T21:22:23Z</vt:lpwstr>
  </op:property>
</op:Properties>
</file>